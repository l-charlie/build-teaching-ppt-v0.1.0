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53d3bff0940be" /><Relationship Type="http://schemas.openxmlformats.org/officeDocument/2006/relationships/extended-properties" Target="/docProps/app.xml" Id="R4fa4425f8c6c4e81" /><Relationship Type="http://schemas.openxmlformats.org/officeDocument/2006/relationships/officeDocument" Target="/ppt/presentation.xml" Id="Rd439e16600ec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30250bcab4e24"/>
  </p:sldMasterIdLst>
  <p:notesMasterIdLst>
    <p:notesMasterId xmlns:r="http://schemas.openxmlformats.org/officeDocument/2006/relationships" r:id="Rc65017c3f2734656"/>
  </p:notesMasterIdLst>
  <p:sldIdLst>
    <p:sldId xmlns:r="http://schemas.openxmlformats.org/officeDocument/2006/relationships" id="256" r:id="Raab3f406d4aa4d12"/>
    <p:sldId xmlns:r="http://schemas.openxmlformats.org/officeDocument/2006/relationships" id="257" r:id="R3a7fc0b172e0440e"/>
    <p:sldId xmlns:r="http://schemas.openxmlformats.org/officeDocument/2006/relationships" id="258" r:id="Rda7bbe6100db45bc"/>
    <p:sldId xmlns:r="http://schemas.openxmlformats.org/officeDocument/2006/relationships" id="259" r:id="Rc1ef33abd2a5485d"/>
    <p:sldId xmlns:r="http://schemas.openxmlformats.org/officeDocument/2006/relationships" id="260" r:id="R9f2c0ab00fa846dc"/>
    <p:sldId xmlns:r="http://schemas.openxmlformats.org/officeDocument/2006/relationships" id="261" r:id="R7d378b089b434ea7"/>
    <p:sldId xmlns:r="http://schemas.openxmlformats.org/officeDocument/2006/relationships" id="262" r:id="Rc2cc6634a022471c"/>
    <p:sldId xmlns:r="http://schemas.openxmlformats.org/officeDocument/2006/relationships" id="263" r:id="R93c0ac4618854dcb"/>
    <p:sldId xmlns:r="http://schemas.openxmlformats.org/officeDocument/2006/relationships" id="264" r:id="R8a25ef39d17e471b"/>
    <p:sldId xmlns:r="http://schemas.openxmlformats.org/officeDocument/2006/relationships" id="265" r:id="R1e35687ec9814a0b"/>
    <p:sldId xmlns:r="http://schemas.openxmlformats.org/officeDocument/2006/relationships" id="266" r:id="R7e8806e39875463f"/>
    <p:sldId xmlns:r="http://schemas.openxmlformats.org/officeDocument/2006/relationships" id="267" r:id="Re5b36bbdd27f40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faf66a2388490a" /><Relationship Type="http://schemas.openxmlformats.org/officeDocument/2006/relationships/slideMaster" Target="/ppt/slideMasters/slideMaster1.xml" Id="R2a330250bcab4e24" /><Relationship Type="http://schemas.openxmlformats.org/officeDocument/2006/relationships/notesMaster" Target="/ppt/notesMasters/notesMaster1.xml" Id="Rc65017c3f2734656" /><Relationship Type="http://schemas.openxmlformats.org/officeDocument/2006/relationships/presProps" Target="/ppt/presProps.xml" Id="R377f9278e31346ea" /><Relationship Type="http://schemas.openxmlformats.org/officeDocument/2006/relationships/tableStyles" Target="/ppt/tableStyles.xml" Id="R6bd324e228404755" /><Relationship Type="http://schemas.openxmlformats.org/officeDocument/2006/relationships/slide" Target="/ppt/slides/slide1.xml" Id="Raab3f406d4aa4d12" /><Relationship Type="http://schemas.openxmlformats.org/officeDocument/2006/relationships/slide" Target="/ppt/slides/slide2.xml" Id="R3a7fc0b172e0440e" /><Relationship Type="http://schemas.openxmlformats.org/officeDocument/2006/relationships/slide" Target="/ppt/slides/slide3.xml" Id="Rda7bbe6100db45bc" /><Relationship Type="http://schemas.openxmlformats.org/officeDocument/2006/relationships/slide" Target="/ppt/slides/slide4.xml" Id="Rc1ef33abd2a5485d" /><Relationship Type="http://schemas.openxmlformats.org/officeDocument/2006/relationships/slide" Target="/ppt/slides/slide5.xml" Id="R9f2c0ab00fa846dc" /><Relationship Type="http://schemas.openxmlformats.org/officeDocument/2006/relationships/slide" Target="/ppt/slides/slide6.xml" Id="R7d378b089b434ea7" /><Relationship Type="http://schemas.openxmlformats.org/officeDocument/2006/relationships/slide" Target="/ppt/slides/slide7.xml" Id="Rc2cc6634a022471c" /><Relationship Type="http://schemas.openxmlformats.org/officeDocument/2006/relationships/slide" Target="/ppt/slides/slide8.xml" Id="R93c0ac4618854dcb" /><Relationship Type="http://schemas.openxmlformats.org/officeDocument/2006/relationships/slide" Target="/ppt/slides/slide9.xml" Id="R8a25ef39d17e471b" /><Relationship Type="http://schemas.openxmlformats.org/officeDocument/2006/relationships/slide" Target="/ppt/slides/slide10.xml" Id="R1e35687ec9814a0b" /><Relationship Type="http://schemas.openxmlformats.org/officeDocument/2006/relationships/slide" Target="/ppt/slides/slide11.xml" Id="R7e8806e39875463f" /><Relationship Type="http://schemas.openxmlformats.org/officeDocument/2006/relationships/slide" Target="/ppt/slides/slide12.xml" Id="Re5b36bbdd27f40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29bcd00b69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c9abf01d474e2e" /><Relationship Type="http://schemas.openxmlformats.org/officeDocument/2006/relationships/notesMaster" Target="/ppt/notesMasters/notesMaster1.xml" Id="R5b827c7ace4f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458610063d433f" /><Relationship Type="http://schemas.openxmlformats.org/officeDocument/2006/relationships/notesMaster" Target="/ppt/notesMasters/notesMaster1.xml" Id="R1466ede73668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cee9fe8bf4a6a" /><Relationship Type="http://schemas.openxmlformats.org/officeDocument/2006/relationships/notesMaster" Target="/ppt/notesMasters/notesMaster1.xml" Id="R4e4882f3390841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5512d452424951" /><Relationship Type="http://schemas.openxmlformats.org/officeDocument/2006/relationships/notesMaster" Target="/ppt/notesMasters/notesMaster1.xml" Id="Rdf6647478b5544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49383ab88745e1" /><Relationship Type="http://schemas.openxmlformats.org/officeDocument/2006/relationships/notesMaster" Target="/ppt/notesMasters/notesMaster1.xml" Id="R0e1e6642b8ab45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4428aee3e048f4" /><Relationship Type="http://schemas.openxmlformats.org/officeDocument/2006/relationships/notesMaster" Target="/ppt/notesMasters/notesMaster1.xml" Id="Rd231eeb6ed4d45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81e5f5055d4a46" /><Relationship Type="http://schemas.openxmlformats.org/officeDocument/2006/relationships/notesMaster" Target="/ppt/notesMasters/notesMaster1.xml" Id="R019312c519bc40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efd40ee54742d4" /><Relationship Type="http://schemas.openxmlformats.org/officeDocument/2006/relationships/notesMaster" Target="/ppt/notesMasters/notesMaster1.xml" Id="R136122c2f4b845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57c6b427e453d" /><Relationship Type="http://schemas.openxmlformats.org/officeDocument/2006/relationships/notesMaster" Target="/ppt/notesMasters/notesMaster1.xml" Id="R0845cf5f47254c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38461e3124a28" /><Relationship Type="http://schemas.openxmlformats.org/officeDocument/2006/relationships/notesMaster" Target="/ppt/notesMasters/notesMaster1.xml" Id="R8631c5a00f8643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a171ad5f4f4ad0" /><Relationship Type="http://schemas.openxmlformats.org/officeDocument/2006/relationships/notesMaster" Target="/ppt/notesMasters/notesMaster1.xml" Id="R7646a2a24e4d4b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97dbdce93e41ef" /><Relationship Type="http://schemas.openxmlformats.org/officeDocument/2006/relationships/notesMaster" Target="/ppt/notesMasters/notesMaster1.xml" Id="R780abe6a58a448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Generated asset VIS-001; prompt recorded in analysis/prompts/VIS-001.txt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SafeExecutor_Gate_implementation_plan.md</a:t>
            </a:r>
          </a:p>
          <a:p xmlns:a="http://schemas.openxmlformats.org/drawingml/2006/main">
            <a:r>
              <a:t>- Generated asset VIS-002; prompt recorded in analysis/prompts/VIS-002.txt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agent_team/orchestrator.py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agent_team/contracts.py</a:t>
            </a:r>
          </a:p>
          <a:p xmlns:a="http://schemas.openxmlformats.org/drawingml/2006/main">
            <a:r>
              <a:t>- agent_team/builder.py</a:t>
            </a:r>
          </a:p>
          <a:p xmlns:a="http://schemas.openxmlformats.org/drawingml/2006/main">
            <a:r>
              <a:t>- SafeExecutor_Gate_implementation_plan.md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agent_team/pre_execution_gate.py</a:t>
            </a:r>
          </a:p>
          <a:p xmlns:a="http://schemas.openxmlformats.org/drawingml/2006/main">
            <a:r>
              <a:t>- SafeExecutor_Gate_implementation_plan.md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agent_team/executor.py</a:t>
            </a:r>
          </a:p>
          <a:p xmlns:a="http://schemas.openxmlformats.org/drawingml/2006/main">
            <a:r>
              <a:t>- agent_team/contracts.py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agent_team/nl2sql_judge.py</a:t>
            </a:r>
          </a:p>
          <a:p xmlns:a="http://schemas.openxmlformats.org/drawingml/2006/main">
            <a:r>
              <a:t>- SafeExecutor_Gate_implementation_plan.md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agent_team/orchestrator.py</a:t>
            </a:r>
          </a:p>
          <a:p xmlns:a="http://schemas.openxmlformats.org/drawingml/2006/main">
            <a:r>
              <a:t>- agent_team/refiner.py</a:t>
            </a:r>
          </a:p>
          <a:p xmlns:a="http://schemas.openxmlformats.org/drawingml/2006/main">
            <a:r>
              <a:t>- tests/test_judge_closed_loop.py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agent_team/orchestrator.py</a:t>
            </a:r>
          </a:p>
          <a:p xmlns:a="http://schemas.openxmlformats.org/drawingml/2006/main">
            <a:r>
              <a:t>- tests/test_retry_routing.py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agent_team/orchestrator.py</a:t>
            </a:r>
          </a:p>
          <a:p xmlns:a="http://schemas.openxmlformats.org/drawingml/2006/main">
            <a:r>
              <a:t>- tests/test_retry_routing.py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command: env PYTHONPATH=&lt;isolated-wsl-deps&gt;:. python3 -m pytest tests -q</a:t>
            </a:r>
          </a:p>
          <a:p xmlns:a="http://schemas.openxmlformats.org/drawingml/2006/main">
            <a:r>
              <a:t>- tests/test_pre_execution_gate.py</a:t>
            </a:r>
          </a:p>
          <a:p xmlns:a="http://schemas.openxmlformats.org/drawingml/2006/main">
            <a:r>
              <a:t>- tests/test_safe_executor.py</a:t>
            </a:r>
          </a:p>
          <a:p xmlns:a="http://schemas.openxmlformats.org/drawingml/2006/main">
            <a:r>
              <a:t>- tests/test_judge_closed_loop.py</a:t>
            </a:r>
          </a:p>
          <a:p xmlns:a="http://schemas.openxmlformats.org/drawingml/2006/main">
            <a:r>
              <a:t>- tests/test_retry_routing.py</a:t>
            </a:r>
          </a:p>
          <a:p xmlns:a="http://schemas.openxmlformats.org/drawingml/2006/main">
            <a:r>
              <a:t>- tests/test_sql_artifact.py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Observed result: 25 passed in 29.36s. Real model and BIRD benchmark were not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SafeExecutor_Gate_implementation_plan.md</a:t>
            </a:r>
          </a:p>
          <a:p xmlns:a="http://schemas.openxmlformats.org/drawingml/2006/main">
            <a:r>
              <a:t>- Current WSL pytest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c12321cab48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cfcc88de7c4ebe" /><Relationship Type="http://schemas.openxmlformats.org/officeDocument/2006/relationships/slideLayout" Target="/ppt/slideLayouts/slideLayout1.xml" Id="R250895a9ae78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895a9ae78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79e4e8d4a443b" /><Relationship Type="http://schemas.openxmlformats.org/officeDocument/2006/relationships/image" Target="/ppt/media/image.png" Id="R154eebf1a2ab4711" /><Relationship Type="http://schemas.openxmlformats.org/officeDocument/2006/relationships/notesSlide" Target="/ppt/notesSlides/notesSlide1.xml" Id="R64d424d01d2b4c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692067b9d47cd" /><Relationship Type="http://schemas.openxmlformats.org/officeDocument/2006/relationships/image" Target="/ppt/media/image2.png" Id="Ra0ce3834e3b54c37" /><Relationship Type="http://schemas.openxmlformats.org/officeDocument/2006/relationships/notesSlide" Target="/ppt/notesSlides/notesSlide2.xml" Id="Ra5a22b0dbee940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7a795c7e8486f" /><Relationship Type="http://schemas.openxmlformats.org/officeDocument/2006/relationships/notesSlide" Target="/ppt/notesSlides/notesSlide3.xml" Id="R8a2c67d35d6040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8563caa4040a7" /><Relationship Type="http://schemas.openxmlformats.org/officeDocument/2006/relationships/notesSlide" Target="/ppt/notesSlides/notesSlide4.xml" Id="R6447b75764d447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0142f09de4723" /><Relationship Type="http://schemas.openxmlformats.org/officeDocument/2006/relationships/notesSlide" Target="/ppt/notesSlides/notesSlide5.xml" Id="Rff6092f8e48f43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947795ba14705" /><Relationship Type="http://schemas.openxmlformats.org/officeDocument/2006/relationships/notesSlide" Target="/ppt/notesSlides/notesSlide6.xml" Id="R5bcc37124d7c43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5eb63e22047e4" /><Relationship Type="http://schemas.openxmlformats.org/officeDocument/2006/relationships/notesSlide" Target="/ppt/notesSlides/notesSlide7.xml" Id="R34b259a872ef43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677d3d5a848c3" /><Relationship Type="http://schemas.openxmlformats.org/officeDocument/2006/relationships/notesSlide" Target="/ppt/notesSlides/notesSlide8.xml" Id="Rcb8e5d25387441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867b71c864524" /><Relationship Type="http://schemas.openxmlformats.org/officeDocument/2006/relationships/notesSlide" Target="/ppt/notesSlides/notesSlide9.xml" Id="R8299f0e464a34f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59cf27f2b4e98" /><Relationship Type="http://schemas.openxmlformats.org/officeDocument/2006/relationships/notesSlide" Target="/ppt/notesSlides/notesSlide10.xml" Id="R3fd23a5de11d4b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6a810c7ce4a27" /><Relationship Type="http://schemas.openxmlformats.org/officeDocument/2006/relationships/notesSlide" Target="/ppt/notesSlides/notesSlide11.xml" Id="R9861b5a510c74b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339b858f04f68" /><Relationship Type="http://schemas.openxmlformats.org/officeDocument/2006/relationships/notesSlide" Target="/ppt/notesSlides/notesSlide12.xml" Id="R2e64bfd5f7dd4e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dark-stage">
            <a:extLst xmlns:a="http://schemas.openxmlformats.org/drawingml/2006/main">
              <a:ext uri="{FF2B5EF4-FFF2-40B4-BE49-F238E27FC236}">
                <a16:creationId xmlns:a16="http://schemas.microsoft.com/office/drawing/2014/main" id="{7AAE72A2-25C6-4551-9C1C-473BC0F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cover-stage-edge">
            <a:extLst xmlns:a="http://schemas.openxmlformats.org/drawingml/2006/main">
              <a:ext uri="{FF2B5EF4-FFF2-40B4-BE49-F238E27FC236}">
                <a16:creationId xmlns:a16="http://schemas.microsoft.com/office/drawing/2014/main" id="{9A1729C1-AD66-49DF-869B-7A02004E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0FF"/>
          </a:solidFill>
          <a:ln xmlns:a="http://schemas.openxmlformats.org/drawingml/2006/main" w="0">
            <a:solidFill>
              <a:srgbClr val="45D0FF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86A6438-1979-446F-AA40-1DC22F7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NL2SQL AGENT / ARCHITECTURE OVERVIEW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F51CFA5-EA8F-4A64-9551-6901D9B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从自然语言</a:t>
            </a:r>
          </a:p>
          <a:p xmlns:a="http://schemas.openxmlformats.org/drawingml/2006/main">
            <a:pPr algn="l">
              <a:def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到可信 SQL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F4350E-1B9A-4A83-A91B-1059C06E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确定性安全 Gate</a:t>
            </a:r>
          </a:p>
          <a:p xmlns:a="http://schemas.openxmlformats.org/drawingml/2006/main">
            <a:pPr algn="l">
              <a:defRPr sz="18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+ 有界 Judge / Refiner 修复闭环</a:t>
            </a:r>
          </a:p>
        </p:txBody>
      </p:sp>
      <p:sp>
        <p:nvSpPr>
          <p:cNvPr id="6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B3E97437-9CB5-4CE6-A6C9-A2AB317A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  <a:prstDash val="solid"/>
          </a:ln>
        </p:spPr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C68A4478-09E7-4B91-8791-A362EEF0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Open-source project showcase · Technical profile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eebf1a2ab4711"/>
          <a:stretch xmlns:a="http://schemas.openxmlformats.org/drawingml/2006/main"/>
        </p:blipFill>
        <p:spPr>
          <a:xfrm xmlns:a="http://schemas.openxmlformats.org/drawingml/2006/main">
            <a:off x="6057900" y="419100"/>
            <a:ext cx="5734050" cy="5734050"/>
          </a:xfrm>
          <a:prstGeom xmlns:a="http://schemas.openxmlformats.org/drawingml/2006/main" prst="rect">
            <a:avLst/>
          </a:prstGeom>
        </p:spPr>
      </p:pic>
      <p:sp>
        <p:nvSpPr>
          <p:cNvPr id="9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58F743FB-DA1F-4112-8F5B-B5226F9E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097ED827-3133-4364-8E3B-AB87DC95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45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430CCC07-821C-490A-8A21-58F37397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WHY A STATE MACHINE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6354377-510E-459C-B056-43CF4EF2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单次生成解决不了“可信”问题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1F2EFB38-89BE-4066-A9CC-AA60A78A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31405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e3834e3b54c37"/>
          <a:srcRect xmlns:a="http://schemas.openxmlformats.org/drawingml/2006/main" l="0" t="23258" r="0" b="232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95450"/>
            <a:ext cx="113919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failure-caption-band">
            <a:extLst xmlns:a="http://schemas.openxmlformats.org/drawingml/2006/main">
              <a:ext uri="{FF2B5EF4-FFF2-40B4-BE49-F238E27FC236}">
                <a16:creationId xmlns:a16="http://schemas.microsoft.com/office/drawing/2014/main" id="{B1A2CC0E-FFB6-4E21-8DF9-2FCBA29E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6" name="failure-num-0">
            <a:extLst xmlns:a="http://schemas.openxmlformats.org/drawingml/2006/main">
              <a:ext uri="{FF2B5EF4-FFF2-40B4-BE49-F238E27FC236}">
                <a16:creationId xmlns:a16="http://schemas.microsoft.com/office/drawing/2014/main" id="{AB438BA9-64E9-4A27-95DC-D0E4D12B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failure-title-0">
            <a:extLst xmlns:a="http://schemas.openxmlformats.org/drawingml/2006/main">
              <a:ext uri="{FF2B5EF4-FFF2-40B4-BE49-F238E27FC236}">
                <a16:creationId xmlns:a16="http://schemas.microsoft.com/office/drawing/2014/main" id="{AB13E312-E6E4-4551-A5FD-A918C821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意图偏差</a:t>
            </a:r>
          </a:p>
        </p:txBody>
      </p:sp>
      <p:sp>
        <p:nvSpPr>
          <p:cNvPr id="8" name="failure-body-0">
            <a:extLst xmlns:a="http://schemas.openxmlformats.org/drawingml/2006/main">
              <a:ext uri="{FF2B5EF4-FFF2-40B4-BE49-F238E27FC236}">
                <a16:creationId xmlns:a16="http://schemas.microsoft.com/office/drawing/2014/main" id="{B6A852DB-B4AD-44A9-92BB-BECC9E6D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问题理解错，SQL 却自洽</a:t>
            </a:r>
          </a:p>
        </p:txBody>
      </p:sp>
      <p:sp>
        <p:nvSpPr>
          <p:cNvPr id="9" name="failure-num-1">
            <a:extLst xmlns:a="http://schemas.openxmlformats.org/drawingml/2006/main">
              <a:ext uri="{FF2B5EF4-FFF2-40B4-BE49-F238E27FC236}">
                <a16:creationId xmlns:a16="http://schemas.microsoft.com/office/drawing/2014/main" id="{926BF7CC-B71E-4126-AAD3-347F700D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6B5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failure-title-1">
            <a:extLst xmlns:a="http://schemas.openxmlformats.org/drawingml/2006/main">
              <a:ext uri="{FF2B5EF4-FFF2-40B4-BE49-F238E27FC236}">
                <a16:creationId xmlns:a16="http://schemas.microsoft.com/office/drawing/2014/main" id="{2FC18640-AFCB-470B-A5EE-846A07B6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91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执行风险</a:t>
            </a:r>
          </a:p>
        </p:txBody>
      </p:sp>
      <p:sp>
        <p:nvSpPr>
          <p:cNvPr id="11" name="failure-body-1">
            <a:extLst xmlns:a="http://schemas.openxmlformats.org/drawingml/2006/main">
              <a:ext uri="{FF2B5EF4-FFF2-40B4-BE49-F238E27FC236}">
                <a16:creationId xmlns:a16="http://schemas.microsoft.com/office/drawing/2014/main" id="{A9AEFD2F-D748-453B-88F3-F055BBFF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危险查询必须在库前拦截</a:t>
            </a:r>
          </a:p>
        </p:txBody>
      </p:sp>
      <p:sp>
        <p:nvSpPr>
          <p:cNvPr id="12" name="failure-num-2">
            <a:extLst xmlns:a="http://schemas.openxmlformats.org/drawingml/2006/main">
              <a:ext uri="{FF2B5EF4-FFF2-40B4-BE49-F238E27FC236}">
                <a16:creationId xmlns:a16="http://schemas.microsoft.com/office/drawing/2014/main" id="{71A7E980-9F73-44BC-BE18-A094A327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failure-title-2">
            <a:extLst xmlns:a="http://schemas.openxmlformats.org/drawingml/2006/main">
              <a:ext uri="{FF2B5EF4-FFF2-40B4-BE49-F238E27FC236}">
                <a16:creationId xmlns:a16="http://schemas.microsoft.com/office/drawing/2014/main" id="{6AD5C449-09E4-4F62-8386-148D5F3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91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语义错误</a:t>
            </a:r>
          </a:p>
        </p:txBody>
      </p:sp>
      <p:sp>
        <p:nvSpPr>
          <p:cNvPr id="14" name="failure-body-2">
            <a:extLst xmlns:a="http://schemas.openxmlformats.org/drawingml/2006/main">
              <a:ext uri="{FF2B5EF4-FFF2-40B4-BE49-F238E27FC236}">
                <a16:creationId xmlns:a16="http://schemas.microsoft.com/office/drawing/2014/main" id="{E2165E59-996D-4AEC-9551-368DA19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可执行仍不等于答对</a:t>
            </a:r>
          </a:p>
        </p:txBody>
      </p:sp>
      <p:sp>
        <p:nvSpPr>
          <p:cNvPr id="1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D27A6671-88ED-4736-AFFF-DDB3ABBA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9910EAE-56BE-440C-8DB2-2489C179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9072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-3">
            <a:extLst xmlns:a="http://schemas.openxmlformats.org/drawingml/2006/main">
              <a:ext uri="{FF2B5EF4-FFF2-40B4-BE49-F238E27FC236}">
                <a16:creationId xmlns:a16="http://schemas.microsoft.com/office/drawing/2014/main" id="{FCBF5E38-4058-4EB3-9299-6867DE79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SYSTEM OVERVIEW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ACB1DCF-62BF-4880-8A2D-95E23CB4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系统把生成拆成一条可追踪流水线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EB92BBC-C923-487E-93EC-9D8896B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314052"/>
            </a:solidFill>
            <a:prstDash val="solid"/>
          </a:ln>
        </p:spPr>
      </p:sp>
      <p:sp>
        <p:nvSpPr>
          <p:cNvPr id="4" name="flow-backdrop-index">
            <a:extLst xmlns:a="http://schemas.openxmlformats.org/drawingml/2006/main">
              <a:ext uri="{FF2B5EF4-FFF2-40B4-BE49-F238E27FC236}">
                <a16:creationId xmlns:a16="http://schemas.microsoft.com/office/drawing/2014/main" id="{CC4B23BC-9570-4767-AFD6-06D89376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06 STAGES / 01 EXECUTION ENVELOPE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E7D4ABF-96A8-4A5E-84BA-B27E25E0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76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BCF6CF9-C21F-4069-A367-2875310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E20209E-DFD0-4D21-BC67-94843119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76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8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ED6C2704-8979-4015-A75C-BB7D827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9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824C0654-403B-4170-BE13-BBBBFC4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76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B0D718C2-7730-4FBC-8C67-461098D4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28875"/>
            <a:ext cx="1571625" cy="1952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1" name="stage-num-1">
            <a:extLst xmlns:a="http://schemas.openxmlformats.org/drawingml/2006/main">
              <a:ext uri="{FF2B5EF4-FFF2-40B4-BE49-F238E27FC236}">
                <a16:creationId xmlns:a16="http://schemas.microsoft.com/office/drawing/2014/main" id="{4F9938AE-A4D4-4586-A5AF-45089F22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9A7321D7-8B91-48DC-888E-148C0945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SchemaLinker</a:t>
            </a:r>
          </a:p>
        </p:txBody>
      </p:sp>
      <p:sp>
        <p:nvSpPr>
          <p:cNvPr id="13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BA3419C4-3F3F-45D4-B6CC-4604EA1C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1304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检索表、列与 FK</a:t>
            </a:r>
          </a:p>
        </p:txBody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DD6E96E6-06DB-4C0B-8D70-248FF995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28875"/>
            <a:ext cx="1571625" cy="1952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5" name="stage-num-2">
            <a:extLst xmlns:a="http://schemas.openxmlformats.org/drawingml/2006/main">
              <a:ext uri="{FF2B5EF4-FFF2-40B4-BE49-F238E27FC236}">
                <a16:creationId xmlns:a16="http://schemas.microsoft.com/office/drawing/2014/main" id="{3FEECE3F-2A8D-4A84-A9EE-7C7A2C55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543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C89B7367-4983-4F48-B8F2-C1C4876D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2892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DataSampler</a:t>
            </a:r>
          </a:p>
        </p:txBody>
      </p:sp>
      <p:sp>
        <p:nvSpPr>
          <p:cNvPr id="17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FA19AAAD-0F4D-4BCA-8988-16A83771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1304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探查真实列值</a:t>
            </a:r>
          </a:p>
        </p:txBody>
      </p:sp>
      <p:sp>
        <p:nvSpPr>
          <p:cNvPr id="18" name="stage-3">
            <a:extLst xmlns:a="http://schemas.openxmlformats.org/drawingml/2006/main">
              <a:ext uri="{FF2B5EF4-FFF2-40B4-BE49-F238E27FC236}">
                <a16:creationId xmlns:a16="http://schemas.microsoft.com/office/drawing/2014/main" id="{AAF526F2-978A-46DA-A42C-79C874DE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28875"/>
            <a:ext cx="1571625" cy="1952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9" name="stage-num-3">
            <a:extLst xmlns:a="http://schemas.openxmlformats.org/drawingml/2006/main">
              <a:ext uri="{FF2B5EF4-FFF2-40B4-BE49-F238E27FC236}">
                <a16:creationId xmlns:a16="http://schemas.microsoft.com/office/drawing/2014/main" id="{EAD38552-B211-48A2-9476-2BBABC24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43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757DD2F9-E8D6-4FD6-972C-4BE32D7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2892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Builder</a:t>
            </a:r>
          </a:p>
        </p:txBody>
      </p:sp>
      <p:sp>
        <p:nvSpPr>
          <p:cNvPr id="21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FEEFCFD4-1D10-425C-B791-27554652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9925"/>
            <a:ext cx="1304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SQLArtifact + DraftIntent</a:t>
            </a:r>
          </a:p>
        </p:txBody>
      </p:sp>
      <p:sp>
        <p:nvSpPr>
          <p:cNvPr id="22" name="stage-4">
            <a:extLst xmlns:a="http://schemas.openxmlformats.org/drawingml/2006/main">
              <a:ext uri="{FF2B5EF4-FFF2-40B4-BE49-F238E27FC236}">
                <a16:creationId xmlns:a16="http://schemas.microsoft.com/office/drawing/2014/main" id="{A99991F3-55BD-46A1-A995-854001EC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28875"/>
            <a:ext cx="1571625" cy="1952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C42"/>
          </a:solidFill>
          <a:ln xmlns:a="http://schemas.openxmlformats.org/drawingml/2006/main" w="19050">
            <a:solidFill>
              <a:srgbClr val="45D0FF"/>
            </a:solidFill>
            <a:prstDash val="solid"/>
          </a:ln>
        </p:spPr>
      </p:sp>
      <p:sp>
        <p:nvSpPr>
          <p:cNvPr id="23" name="stage-num-4">
            <a:extLst xmlns:a="http://schemas.openxmlformats.org/drawingml/2006/main">
              <a:ext uri="{FF2B5EF4-FFF2-40B4-BE49-F238E27FC236}">
                <a16:creationId xmlns:a16="http://schemas.microsoft.com/office/drawing/2014/main" id="{2993B310-E484-401B-A138-AAC1E61E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43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12EF61B4-B2B3-4CDE-B128-EE214302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2892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SafeExecutor</a:t>
            </a:r>
          </a:p>
        </p:txBody>
      </p:sp>
      <p:sp>
        <p:nvSpPr>
          <p:cNvPr id="25" name="stage-detail-4">
            <a:extLst xmlns:a="http://schemas.openxmlformats.org/drawingml/2006/main">
              <a:ext uri="{FF2B5EF4-FFF2-40B4-BE49-F238E27FC236}">
                <a16:creationId xmlns:a16="http://schemas.microsoft.com/office/drawing/2014/main" id="{867E5CBE-26BB-49E4-BE48-0522916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9925"/>
            <a:ext cx="1304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Gate → 只读执行</a:t>
            </a:r>
          </a:p>
        </p:txBody>
      </p:sp>
      <p:sp>
        <p:nvSpPr>
          <p:cNvPr id="26" name="stage-5">
            <a:extLst xmlns:a="http://schemas.openxmlformats.org/drawingml/2006/main">
              <a:ext uri="{FF2B5EF4-FFF2-40B4-BE49-F238E27FC236}">
                <a16:creationId xmlns:a16="http://schemas.microsoft.com/office/drawing/2014/main" id="{13D463FA-DD68-4F04-B9F4-FDC8087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1571625" cy="1952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27" name="stage-num-5">
            <a:extLst xmlns:a="http://schemas.openxmlformats.org/drawingml/2006/main">
              <a:ext uri="{FF2B5EF4-FFF2-40B4-BE49-F238E27FC236}">
                <a16:creationId xmlns:a16="http://schemas.microsoft.com/office/drawing/2014/main" id="{B25FEF36-A603-4547-BCCD-785C9B30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AD6EBF30-F5D5-4F5A-BAAF-C82E972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2892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Judge</a:t>
            </a:r>
          </a:p>
        </p:txBody>
      </p:sp>
      <p:sp>
        <p:nvSpPr>
          <p:cNvPr id="29" name="stage-detail-5">
            <a:extLst xmlns:a="http://schemas.openxmlformats.org/drawingml/2006/main">
              <a:ext uri="{FF2B5EF4-FFF2-40B4-BE49-F238E27FC236}">
                <a16:creationId xmlns:a16="http://schemas.microsoft.com/office/drawing/2014/main" id="{76B27476-8991-47AA-B72B-6EF0DAE8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9925"/>
            <a:ext cx="1304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确定性 / 语义核查</a:t>
            </a:r>
          </a:p>
        </p:txBody>
      </p:sp>
      <p:sp>
        <p:nvSpPr>
          <p:cNvPr id="30" name="stage-6">
            <a:extLst xmlns:a="http://schemas.openxmlformats.org/drawingml/2006/main">
              <a:ext uri="{FF2B5EF4-FFF2-40B4-BE49-F238E27FC236}">
                <a16:creationId xmlns:a16="http://schemas.microsoft.com/office/drawing/2014/main" id="{21E9EA17-5B8A-4622-8CBE-22BF9A1E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28875"/>
            <a:ext cx="1571625" cy="1952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31" name="stage-num-6">
            <a:extLst xmlns:a="http://schemas.openxmlformats.org/drawingml/2006/main">
              <a:ext uri="{FF2B5EF4-FFF2-40B4-BE49-F238E27FC236}">
                <a16:creationId xmlns:a16="http://schemas.microsoft.com/office/drawing/2014/main" id="{B40B55F0-1B18-4D2A-BCB6-057D48D1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543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stage-title-6">
            <a:extLst xmlns:a="http://schemas.openxmlformats.org/drawingml/2006/main">
              <a:ext uri="{FF2B5EF4-FFF2-40B4-BE49-F238E27FC236}">
                <a16:creationId xmlns:a16="http://schemas.microsoft.com/office/drawing/2014/main" id="{1B855126-0BD6-482E-88B4-AD837601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2892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Refiner</a:t>
            </a:r>
          </a:p>
        </p:txBody>
      </p:sp>
      <p:sp>
        <p:nvSpPr>
          <p:cNvPr id="33" name="stage-detail-6">
            <a:extLst xmlns:a="http://schemas.openxmlformats.org/drawingml/2006/main">
              <a:ext uri="{FF2B5EF4-FFF2-40B4-BE49-F238E27FC236}">
                <a16:creationId xmlns:a16="http://schemas.microsoft.com/office/drawing/2014/main" id="{0C111F19-3415-48EE-9DCA-0D95E9A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09925"/>
            <a:ext cx="1304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分阶段有界修复</a:t>
            </a:r>
          </a:p>
        </p:txBody>
      </p:sp>
      <p:sp>
        <p:nvSpPr>
          <p:cNvPr id="34" name="flow-loop-label">
            <a:extLst xmlns:a="http://schemas.openxmlformats.org/drawingml/2006/main">
              <a:ext uri="{FF2B5EF4-FFF2-40B4-BE49-F238E27FC236}">
                <a16:creationId xmlns:a16="http://schemas.microsoft.com/office/drawing/2014/main" id="{5CB4F7C1-BB31-4857-8E39-FE448724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任何修复后的 SQL 都重新进入 SafeExecutor</a:t>
            </a:r>
          </a:p>
        </p:txBody>
      </p:sp>
      <p:sp>
        <p:nvSpPr>
          <p:cNvPr id="35" name="flow-loop-line">
            <a:extLst xmlns:a="http://schemas.openxmlformats.org/drawingml/2006/main">
              <a:ext uri="{FF2B5EF4-FFF2-40B4-BE49-F238E27FC236}">
                <a16:creationId xmlns:a16="http://schemas.microsoft.com/office/drawing/2014/main" id="{028A01A0-583C-4F97-9F04-5175C4C0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52450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36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4455EAF8-DB35-4D42-8DCD-B2B3993D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3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DDB6924-DAC5-4EDB-8A50-E59787AA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621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4">
            <a:extLst xmlns:a="http://schemas.openxmlformats.org/drawingml/2006/main">
              <a:ext uri="{FF2B5EF4-FFF2-40B4-BE49-F238E27FC236}">
                <a16:creationId xmlns:a16="http://schemas.microsoft.com/office/drawing/2014/main" id="{9289C33A-5C78-44DE-B861-A9CE5BB4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CHALLENGEABLE CONTRACT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54DAD01-188D-4175-BB45-644EC31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Builder 输出的是可质疑的合同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D3122D8F-7038-4DE0-AADE-85800979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C"/>
          </a:solidFill>
          <a:ln xmlns:a="http://schemas.openxmlformats.org/drawingml/2006/main" w="0">
            <a:solidFill>
              <a:srgbClr val="B9C2CC"/>
            </a:solidFill>
            <a:prstDash val="solid"/>
          </a:ln>
        </p:spPr>
      </p:sp>
      <p:sp>
        <p:nvSpPr>
          <p:cNvPr id="4" name="contract-code-panel">
            <a:extLst xmlns:a="http://schemas.openxmlformats.org/drawingml/2006/main">
              <a:ext uri="{FF2B5EF4-FFF2-40B4-BE49-F238E27FC236}">
                <a16:creationId xmlns:a16="http://schemas.microsoft.com/office/drawing/2014/main" id="{DB1021EB-F6AC-4C39-B606-06145FB8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715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1181F"/>
          </a:solidFill>
          <a:ln xmlns:a="http://schemas.openxmlformats.org/drawingml/2006/main" w="0">
            <a:solidFill>
              <a:srgbClr val="11181F"/>
            </a:solidFill>
            <a:prstDash val="solid"/>
          </a:ln>
        </p:spPr>
      </p:sp>
      <p:sp>
        <p:nvSpPr>
          <p:cNvPr id="5" name="contract-code">
            <a:extLst xmlns:a="http://schemas.openxmlformats.org/drawingml/2006/main">
              <a:ext uri="{FF2B5EF4-FFF2-40B4-BE49-F238E27FC236}">
                <a16:creationId xmlns:a16="http://schemas.microsoft.com/office/drawing/2014/main" id="{6431CF58-9EF6-4101-BC65-084B8F42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SQLArtifact(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  sql = "SELECT ...",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  draft_intent = DraftIntent(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    metrics = [...],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    filters = [...],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    aggregation_grain = "..."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  ),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  intent_version = 1</a:t>
            </a:r>
          </a:p>
          <a:p xmlns:a="http://schemas.openxmlformats.org/drawingml/2006/main">
            <a:pPr algn="l">
              <a:def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B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6" name="contract-right-title">
            <a:extLst xmlns:a="http://schemas.openxmlformats.org/drawingml/2006/main">
              <a:ext uri="{FF2B5EF4-FFF2-40B4-BE49-F238E27FC236}">
                <a16:creationId xmlns:a16="http://schemas.microsoft.com/office/drawing/2014/main" id="{57F97758-328F-418B-90FD-760F958A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为什么不是“真值”</a:t>
            </a:r>
          </a:p>
        </p:txBody>
      </p:sp>
      <p:sp>
        <p:nvSpPr>
          <p:cNvPr id="7" name="contract-bullets">
            <a:extLst xmlns:a="http://schemas.openxmlformats.org/drawingml/2006/main">
              <a:ext uri="{FF2B5EF4-FFF2-40B4-BE49-F238E27FC236}">
                <a16:creationId xmlns:a16="http://schemas.microsoft.com/office/drawing/2014/main" id="{411A28F2-B8F8-4F96-B868-5BAA4526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原问题与证据仍是根约束</a:t>
            </a:r>
          </a:p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Judge 可以质疑 DraftIntent</a:t>
            </a:r>
          </a:p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Refiner 修订意图时必须升级版本</a:t>
            </a:r>
          </a:p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修订理由被记录，不能静默覆盖</a:t>
            </a:r>
          </a:p>
        </p:txBody>
      </p:sp>
      <p:sp>
        <p:nvSpPr>
          <p:cNvPr id="8" name="contract-takeaway">
            <a:extLst xmlns:a="http://schemas.openxmlformats.org/drawingml/2006/main">
              <a:ext uri="{FF2B5EF4-FFF2-40B4-BE49-F238E27FC236}">
                <a16:creationId xmlns:a16="http://schemas.microsoft.com/office/drawing/2014/main" id="{DC98DA13-ADCC-402D-857A-B9756A4A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合同让“理解错了什么”也能被定位。</a:t>
            </a:r>
          </a:p>
        </p:txBody>
      </p:sp>
      <p:sp>
        <p:nvSpPr>
          <p:cNvPr id="9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41F54A3E-B6EC-4604-AA3F-2534C27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8D096A3-35DE-485B-82CC-468FB908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8668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5">
            <a:extLst xmlns:a="http://schemas.openxmlformats.org/drawingml/2006/main">
              <a:ext uri="{FF2B5EF4-FFF2-40B4-BE49-F238E27FC236}">
                <a16:creationId xmlns:a16="http://schemas.microsoft.com/office/drawing/2014/main" id="{0633521C-A5CE-4686-81A3-D873620B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DETERMINISTIC PRE-EXECUTION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C2B5713-75DA-4B7F-ACF7-2DF89396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Gate 只阻断高确定性风险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E28AF779-CE11-446B-AD90-FDE88E85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C"/>
          </a:solidFill>
          <a:ln xmlns:a="http://schemas.openxmlformats.org/drawingml/2006/main" w="0">
            <a:solidFill>
              <a:srgbClr val="B9C2CC"/>
            </a:solidFill>
            <a:prstDash val="solid"/>
          </a:ln>
        </p:spPr>
      </p:sp>
      <p:sp>
        <p:nvSpPr>
          <p:cNvPr id="4" name="gate-subtitle">
            <a:extLst xmlns:a="http://schemas.openxmlformats.org/drawingml/2006/main">
              <a:ext uri="{FF2B5EF4-FFF2-40B4-BE49-F238E27FC236}">
                <a16:creationId xmlns:a16="http://schemas.microsoft.com/office/drawing/2014/main" id="{6DB86843-448F-4460-A120-FE8FDADC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能确定“不安全或不可执行”的才阻断；语义好坏留给执行后的 Judge。</a:t>
            </a:r>
          </a:p>
        </p:txBody>
      </p:sp>
      <p:sp>
        <p:nvSpPr>
          <p:cNvPr id="5" name="gate-block-panel">
            <a:extLst xmlns:a="http://schemas.openxmlformats.org/drawingml/2006/main">
              <a:ext uri="{FF2B5EF4-FFF2-40B4-BE49-F238E27FC236}">
                <a16:creationId xmlns:a16="http://schemas.microsoft.com/office/drawing/2014/main" id="{6646CC75-A913-4C83-8C2C-B8717E22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2E7CF6"/>
            </a:solidFill>
            <a:prstDash val="solid"/>
          </a:ln>
        </p:spPr>
      </p:sp>
      <p:sp>
        <p:nvSpPr>
          <p:cNvPr id="6" name="gate-block-title">
            <a:extLst xmlns:a="http://schemas.openxmlformats.org/drawingml/2006/main">
              <a:ext uri="{FF2B5EF4-FFF2-40B4-BE49-F238E27FC236}">
                <a16:creationId xmlns:a16="http://schemas.microsoft.com/office/drawing/2014/main" id="{E2082AD3-CBDD-47B7-A790-2D1EAF5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BLOCK</a:t>
            </a:r>
          </a:p>
        </p:txBody>
      </p:sp>
      <p:sp>
        <p:nvSpPr>
          <p:cNvPr id="7" name="gate-block-list">
            <a:extLst xmlns:a="http://schemas.openxmlformats.org/drawingml/2006/main">
              <a:ext uri="{FF2B5EF4-FFF2-40B4-BE49-F238E27FC236}">
                <a16:creationId xmlns:a16="http://schemas.microsoft.com/office/drawing/2014/main" id="{3661CCF7-24F2-4367-9B6A-175CF83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非只读或多语句 SQL</a:t>
            </a:r>
          </a:p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AST 解析失败</a:t>
            </a:r>
          </a:p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未解析的模板占位符</a:t>
            </a:r>
          </a:p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引用授权 Schema 之外的表</a:t>
            </a:r>
          </a:p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高确定性不存在的列</a:t>
            </a:r>
          </a:p>
        </p:txBody>
      </p:sp>
      <p:sp>
        <p:nvSpPr>
          <p:cNvPr id="8" name="gate-observe-panel">
            <a:extLst xmlns:a="http://schemas.openxmlformats.org/drawingml/2006/main">
              <a:ext uri="{FF2B5EF4-FFF2-40B4-BE49-F238E27FC236}">
                <a16:creationId xmlns:a16="http://schemas.microsoft.com/office/drawing/2014/main" id="{A92C05B8-060B-49E3-BCB2-E37C7CC7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5715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9" name="gate-observe-title">
            <a:extLst xmlns:a="http://schemas.openxmlformats.org/drawingml/2006/main">
              <a:ext uri="{FF2B5EF4-FFF2-40B4-BE49-F238E27FC236}">
                <a16:creationId xmlns:a16="http://schemas.microsoft.com/office/drawing/2014/main" id="{F4217488-DCC8-46F9-80A5-4D818D5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OBSERVE → JUDGE</a:t>
            </a:r>
          </a:p>
        </p:txBody>
      </p:sp>
      <p:sp>
        <p:nvSpPr>
          <p:cNvPr id="10" name="gate-observe-list">
            <a:extLst xmlns:a="http://schemas.openxmlformats.org/drawingml/2006/main">
              <a:ext uri="{FF2B5EF4-FFF2-40B4-BE49-F238E27FC236}">
                <a16:creationId xmlns:a16="http://schemas.microsoft.com/office/drawing/2014/main" id="{74AA487E-CFB3-4561-B180-D4C6858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聚合函数与结果粒度</a:t>
            </a:r>
          </a:p>
          <a:p xmlns:a="http://schemas.openxmlformats.org/drawingml/2006/main">
            <a:pPr algn="l">
              <a:def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JOIN 结构与过滤条件</a:t>
            </a:r>
          </a:p>
          <a:p xmlns:a="http://schemas.openxmlformats.org/drawingml/2006/main">
            <a:pPr algn="l">
              <a:def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时间范围与排序</a:t>
            </a:r>
          </a:p>
          <a:p xmlns:a="http://schemas.openxmlformats.org/drawingml/2006/main">
            <a:pPr algn="l">
              <a:def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Top-N 与 required concepts</a:t>
            </a:r>
          </a:p>
          <a:p xmlns:a="http://schemas.openxmlformats.org/drawingml/2006/main">
            <a:pPr algn="l">
              <a:def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SQL signature 作为语义证据</a:t>
            </a:r>
          </a:p>
        </p:txBody>
      </p:sp>
      <p:sp>
        <p:nvSpPr>
          <p:cNvPr id="11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92DBECE8-94CF-4671-BA59-0723CFD3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9A370F4-2D20-4E17-B624-4FAC40F7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3127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6">
            <a:extLst xmlns:a="http://schemas.openxmlformats.org/drawingml/2006/main">
              <a:ext uri="{FF2B5EF4-FFF2-40B4-BE49-F238E27FC236}">
                <a16:creationId xmlns:a16="http://schemas.microsoft.com/office/drawing/2014/main" id="{AD9AE824-7055-4FDE-A556-7454F751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ONE EXECUTION ENVELOPE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81795DE-264B-4700-A5DA-4F2F235B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SafeExecutor 先分清“没执行”和“执行失败”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546AD51D-AF25-4FFA-AF15-1CA41AD7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314052"/>
            </a:solidFill>
            <a:prstDash val="solid"/>
          </a:ln>
        </p:spPr>
      </p:sp>
      <p:sp>
        <p:nvSpPr>
          <p:cNvPr id="4" name="executor-input">
            <a:extLst xmlns:a="http://schemas.openxmlformats.org/drawingml/2006/main">
              <a:ext uri="{FF2B5EF4-FFF2-40B4-BE49-F238E27FC236}">
                <a16:creationId xmlns:a16="http://schemas.microsoft.com/office/drawing/2014/main" id="{F4896690-79C1-48AD-9902-E391FD44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2"/>
          </a:solidFill>
          <a:ln xmlns:a="http://schemas.openxmlformats.org/drawingml/2006/main" w="19050">
            <a:solidFill>
              <a:srgbClr val="45D0FF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SQLArtifact</a:t>
            </a:r>
          </a:p>
        </p:txBody>
      </p:sp>
      <p:sp>
        <p:nvSpPr>
          <p:cNvPr id="5" name="executor-stem">
            <a:extLst xmlns:a="http://schemas.openxmlformats.org/drawingml/2006/main">
              <a:ext uri="{FF2B5EF4-FFF2-40B4-BE49-F238E27FC236}">
                <a16:creationId xmlns:a16="http://schemas.microsoft.com/office/drawing/2014/main" id="{14A14C91-BF17-4069-B3B4-7FD000A9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6" name="executor-branch">
            <a:extLst xmlns:a="http://schemas.openxmlformats.org/drawingml/2006/main">
              <a:ext uri="{FF2B5EF4-FFF2-40B4-BE49-F238E27FC236}">
                <a16:creationId xmlns:a16="http://schemas.microsoft.com/office/drawing/2014/main" id="{72DAC59E-9C79-4F17-B66E-FCCA74F6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7" name="executor-drop-0">
            <a:extLst xmlns:a="http://schemas.openxmlformats.org/drawingml/2006/main">
              <a:ext uri="{FF2B5EF4-FFF2-40B4-BE49-F238E27FC236}">
                <a16:creationId xmlns:a16="http://schemas.microsoft.com/office/drawing/2014/main" id="{EE6F7CDB-EB17-4D59-A5D9-958F98C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8" name="executor-drop-1">
            <a:extLst xmlns:a="http://schemas.openxmlformats.org/drawingml/2006/main">
              <a:ext uri="{FF2B5EF4-FFF2-40B4-BE49-F238E27FC236}">
                <a16:creationId xmlns:a16="http://schemas.microsoft.com/office/drawing/2014/main" id="{D56F0C85-EFF4-4AA8-A520-A0B15F13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9" name="executor-drop-2">
            <a:extLst xmlns:a="http://schemas.openxmlformats.org/drawingml/2006/main">
              <a:ext uri="{FF2B5EF4-FFF2-40B4-BE49-F238E27FC236}">
                <a16:creationId xmlns:a16="http://schemas.microsoft.com/office/drawing/2014/main" id="{990A34A3-7B25-4ECC-ADC5-2A2ECB97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solidFill>
              <a:srgbClr val="2E7CF6"/>
            </a:solidFill>
            <a:prstDash val="solid"/>
          </a:ln>
        </p:spPr>
      </p:sp>
      <p:sp>
        <p:nvSpPr>
          <p:cNvPr id="10" name="executor-path-0">
            <a:extLst xmlns:a="http://schemas.openxmlformats.org/drawingml/2006/main">
              <a:ext uri="{FF2B5EF4-FFF2-40B4-BE49-F238E27FC236}">
                <a16:creationId xmlns:a16="http://schemas.microsoft.com/office/drawing/2014/main" id="{AD8480ED-15F1-4090-9B6D-D3C1135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11" name="executor-path-title-0">
            <a:extLst xmlns:a="http://schemas.openxmlformats.org/drawingml/2006/main">
              <a:ext uri="{FF2B5EF4-FFF2-40B4-BE49-F238E27FC236}">
                <a16:creationId xmlns:a16="http://schemas.microsoft.com/office/drawing/2014/main" id="{6ECE7FAD-061D-434A-91D1-6F97423A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6B5E"/>
                </a:solidFill>
                <a:latin typeface="Microsoft YaHei"/>
                <a:ea typeface="Microsoft YaHei"/>
                <a:cs typeface="Microsoft YaHei"/>
              </a:rPr>
              <a:t>Gate blocked</a:t>
            </a:r>
          </a:p>
        </p:txBody>
      </p:sp>
      <p:sp>
        <p:nvSpPr>
          <p:cNvPr id="12" name="executor-path-state-0">
            <a:extLst xmlns:a="http://schemas.openxmlformats.org/drawingml/2006/main">
              <a:ext uri="{FF2B5EF4-FFF2-40B4-BE49-F238E27FC236}">
                <a16:creationId xmlns:a16="http://schemas.microsoft.com/office/drawing/2014/main" id="{F836940D-74D0-4220-A408-12869941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A9B6C4"/>
                </a:solidFill>
                <a:latin typeface="Courier New"/>
                <a:ea typeface="Courier New"/>
                <a:cs typeface="Courier New"/>
              </a:rPr>
              <a:t>attempted = false</a:t>
            </a:r>
          </a:p>
        </p:txBody>
      </p:sp>
      <p:sp>
        <p:nvSpPr>
          <p:cNvPr id="13" name="executor-path-detail-0">
            <a:extLst xmlns:a="http://schemas.openxmlformats.org/drawingml/2006/main">
              <a:ext uri="{FF2B5EF4-FFF2-40B4-BE49-F238E27FC236}">
                <a16:creationId xmlns:a16="http://schemas.microsoft.com/office/drawing/2014/main" id="{2E3A4201-B0CF-4AEA-970F-9CB4916D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数据库从未接触 SQL</a:t>
            </a:r>
          </a:p>
        </p:txBody>
      </p:sp>
      <p:sp>
        <p:nvSpPr>
          <p:cNvPr id="14" name="executor-path-1">
            <a:extLst xmlns:a="http://schemas.openxmlformats.org/drawingml/2006/main">
              <a:ext uri="{FF2B5EF4-FFF2-40B4-BE49-F238E27FC236}">
                <a16:creationId xmlns:a16="http://schemas.microsoft.com/office/drawing/2014/main" id="{A6D9BC29-BCFF-48EE-A3A2-F6D4418F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290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19050">
            <a:solidFill>
              <a:srgbClr val="F5A340"/>
            </a:solidFill>
            <a:prstDash val="solid"/>
          </a:ln>
        </p:spPr>
      </p:sp>
      <p:sp>
        <p:nvSpPr>
          <p:cNvPr id="15" name="executor-path-title-1">
            <a:extLst xmlns:a="http://schemas.openxmlformats.org/drawingml/2006/main">
              <a:ext uri="{FF2B5EF4-FFF2-40B4-BE49-F238E27FC236}">
                <a16:creationId xmlns:a16="http://schemas.microsoft.com/office/drawing/2014/main" id="{943C9748-7B0B-49CD-98A3-CB7892A4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A3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A340"/>
                </a:solidFill>
                <a:latin typeface="Microsoft YaHei"/>
                <a:ea typeface="Microsoft YaHei"/>
                <a:cs typeface="Microsoft YaHei"/>
              </a:rPr>
              <a:t>DB failed</a:t>
            </a:r>
          </a:p>
        </p:txBody>
      </p:sp>
      <p:sp>
        <p:nvSpPr>
          <p:cNvPr id="16" name="executor-path-state-1">
            <a:extLst xmlns:a="http://schemas.openxmlformats.org/drawingml/2006/main">
              <a:ext uri="{FF2B5EF4-FFF2-40B4-BE49-F238E27FC236}">
                <a16:creationId xmlns:a16="http://schemas.microsoft.com/office/drawing/2014/main" id="{A33CA274-D5A4-449B-8C23-E8A0C4E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14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A9B6C4"/>
                </a:solidFill>
                <a:latin typeface="Courier New"/>
                <a:ea typeface="Courier New"/>
                <a:cs typeface="Courier New"/>
              </a:rPr>
              <a:t>attempted = true</a:t>
            </a:r>
          </a:p>
        </p:txBody>
      </p:sp>
      <p:sp>
        <p:nvSpPr>
          <p:cNvPr id="17" name="executor-path-detail-1">
            <a:extLst xmlns:a="http://schemas.openxmlformats.org/drawingml/2006/main">
              <a:ext uri="{FF2B5EF4-FFF2-40B4-BE49-F238E27FC236}">
                <a16:creationId xmlns:a16="http://schemas.microsoft.com/office/drawing/2014/main" id="{C2370EAC-52F2-48AF-AA7D-225141C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72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确定性数据库错误反馈</a:t>
            </a:r>
          </a:p>
        </p:txBody>
      </p:sp>
      <p:sp>
        <p:nvSpPr>
          <p:cNvPr id="18" name="executor-path-2">
            <a:extLst xmlns:a="http://schemas.openxmlformats.org/drawingml/2006/main">
              <a:ext uri="{FF2B5EF4-FFF2-40B4-BE49-F238E27FC236}">
                <a16:creationId xmlns:a16="http://schemas.microsoft.com/office/drawing/2014/main" id="{E2EBE688-64F7-45B8-848B-13E05C2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19050">
            <a:solidFill>
              <a:srgbClr val="42B883"/>
            </a:solidFill>
            <a:prstDash val="solid"/>
          </a:ln>
        </p:spPr>
      </p:sp>
      <p:sp>
        <p:nvSpPr>
          <p:cNvPr id="19" name="executor-path-title-2">
            <a:extLst xmlns:a="http://schemas.openxmlformats.org/drawingml/2006/main">
              <a:ext uri="{FF2B5EF4-FFF2-40B4-BE49-F238E27FC236}">
                <a16:creationId xmlns:a16="http://schemas.microsoft.com/office/drawing/2014/main" id="{EE08286A-5F66-42D4-BEB9-F8023077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DB succeeded</a:t>
            </a:r>
          </a:p>
        </p:txBody>
      </p:sp>
      <p:sp>
        <p:nvSpPr>
          <p:cNvPr id="20" name="executor-path-state-2">
            <a:extLst xmlns:a="http://schemas.openxmlformats.org/drawingml/2006/main">
              <a:ext uri="{FF2B5EF4-FFF2-40B4-BE49-F238E27FC236}">
                <a16:creationId xmlns:a16="http://schemas.microsoft.com/office/drawing/2014/main" id="{23DDC66C-F57D-4A51-80BE-4531C185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14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A9B6C4"/>
                </a:solidFill>
                <a:latin typeface="Courier New"/>
                <a:ea typeface="Courier New"/>
                <a:cs typeface="Courier New"/>
              </a:rPr>
              <a:t>ok = true</a:t>
            </a:r>
          </a:p>
        </p:txBody>
      </p:sp>
      <p:sp>
        <p:nvSpPr>
          <p:cNvPr id="21" name="executor-path-detail-2">
            <a:extLst xmlns:a="http://schemas.openxmlformats.org/drawingml/2006/main">
              <a:ext uri="{FF2B5EF4-FFF2-40B4-BE49-F238E27FC236}">
                <a16:creationId xmlns:a16="http://schemas.microsoft.com/office/drawing/2014/main" id="{C39501F7-47DF-4D73-B887-42B505A5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72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进入语义 Judge</a:t>
            </a:r>
          </a:p>
        </p:txBody>
      </p:sp>
      <p:sp>
        <p:nvSpPr>
          <p:cNvPr id="22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7B7A2A77-A483-4039-AB05-08A52FC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2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25F49491-5417-4071-997B-42429384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8730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-7">
            <a:extLst xmlns:a="http://schemas.openxmlformats.org/drawingml/2006/main">
              <a:ext uri="{FF2B5EF4-FFF2-40B4-BE49-F238E27FC236}">
                <a16:creationId xmlns:a16="http://schemas.microsoft.com/office/drawing/2014/main" id="{F4D49504-B5F4-4A62-B5FE-85AD2523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JUDGE MODES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39F66A7-292D-4087-932B-0D8035AC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Judge 只在执行成功后使用语义 LLM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8F2B3573-5A6F-4A07-859D-3A2013E1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C"/>
          </a:solidFill>
          <a:ln xmlns:a="http://schemas.openxmlformats.org/drawingml/2006/main" w="0">
            <a:solidFill>
              <a:srgbClr val="B9C2CC"/>
            </a:solidFill>
            <a:prstDash val="solid"/>
          </a:ln>
        </p:spPr>
      </p:sp>
      <p:sp>
        <p:nvSpPr>
          <p:cNvPr id="4" name="judge-head-0">
            <a:extLst xmlns:a="http://schemas.openxmlformats.org/drawingml/2006/main">
              <a:ext uri="{FF2B5EF4-FFF2-40B4-BE49-F238E27FC236}">
                <a16:creationId xmlns:a16="http://schemas.microsoft.com/office/drawing/2014/main" id="{1DAB0D72-93B8-48CF-B9D4-784E3FEA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5" name="judge-head-text-0">
            <a:extLst xmlns:a="http://schemas.openxmlformats.org/drawingml/2006/main">
              <a:ext uri="{FF2B5EF4-FFF2-40B4-BE49-F238E27FC236}">
                <a16:creationId xmlns:a16="http://schemas.microsoft.com/office/drawing/2014/main" id="{6EAFE4C7-CD8D-44C3-B106-45475E5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输入状态</a:t>
            </a:r>
          </a:p>
        </p:txBody>
      </p:sp>
      <p:sp>
        <p:nvSpPr>
          <p:cNvPr id="6" name="judge-head-1">
            <a:extLst xmlns:a="http://schemas.openxmlformats.org/drawingml/2006/main">
              <a:ext uri="{FF2B5EF4-FFF2-40B4-BE49-F238E27FC236}">
                <a16:creationId xmlns:a16="http://schemas.microsoft.com/office/drawing/2014/main" id="{35CD382F-841D-4E51-86FF-43B7B71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7" name="judge-head-text-1">
            <a:extLst xmlns:a="http://schemas.openxmlformats.org/drawingml/2006/main">
              <a:ext uri="{FF2B5EF4-FFF2-40B4-BE49-F238E27FC236}">
                <a16:creationId xmlns:a16="http://schemas.microsoft.com/office/drawing/2014/main" id="{0DCCC846-BC7E-4F11-8409-D328C406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52650"/>
            <a:ext cx="1628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mode</a:t>
            </a:r>
          </a:p>
        </p:txBody>
      </p:sp>
      <p:sp>
        <p:nvSpPr>
          <p:cNvPr id="8" name="judge-head-2">
            <a:extLst xmlns:a="http://schemas.openxmlformats.org/drawingml/2006/main">
              <a:ext uri="{FF2B5EF4-FFF2-40B4-BE49-F238E27FC236}">
                <a16:creationId xmlns:a16="http://schemas.microsoft.com/office/drawing/2014/main" id="{99D77DB6-EC39-4A09-8308-B32F5891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9" name="judge-head-text-2">
            <a:extLst xmlns:a="http://schemas.openxmlformats.org/drawingml/2006/main">
              <a:ext uri="{FF2B5EF4-FFF2-40B4-BE49-F238E27FC236}">
                <a16:creationId xmlns:a16="http://schemas.microsoft.com/office/drawing/2014/main" id="{8713657A-1941-42AB-86E9-73DC19A0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52650"/>
            <a:ext cx="143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Judge LLM</a:t>
            </a:r>
          </a:p>
        </p:txBody>
      </p:sp>
      <p:sp>
        <p:nvSpPr>
          <p:cNvPr id="10" name="judge-head-3">
            <a:extLst xmlns:a="http://schemas.openxmlformats.org/drawingml/2006/main">
              <a:ext uri="{FF2B5EF4-FFF2-40B4-BE49-F238E27FC236}">
                <a16:creationId xmlns:a16="http://schemas.microsoft.com/office/drawing/2014/main" id="{5082D62F-BEE1-4105-AE96-9259C2C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11" name="judge-head-text-3">
            <a:extLst xmlns:a="http://schemas.openxmlformats.org/drawingml/2006/main">
              <a:ext uri="{FF2B5EF4-FFF2-40B4-BE49-F238E27FC236}">
                <a16:creationId xmlns:a16="http://schemas.microsoft.com/office/drawing/2014/main" id="{53FE3E39-582F-4B2A-B4C7-64454E6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核心输出</a:t>
            </a:r>
          </a:p>
        </p:txBody>
      </p:sp>
      <p:sp>
        <p:nvSpPr>
          <p:cNvPr id="12" name="judge-head-4">
            <a:extLst xmlns:a="http://schemas.openxmlformats.org/drawingml/2006/main">
              <a:ext uri="{FF2B5EF4-FFF2-40B4-BE49-F238E27FC236}">
                <a16:creationId xmlns:a16="http://schemas.microsoft.com/office/drawing/2014/main" id="{514B7D44-88AD-44E7-8DA2-28D6AAFD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409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13" name="judge-head-text-4">
            <a:extLst xmlns:a="http://schemas.openxmlformats.org/drawingml/2006/main">
              <a:ext uri="{FF2B5EF4-FFF2-40B4-BE49-F238E27FC236}">
                <a16:creationId xmlns:a16="http://schemas.microsoft.com/office/drawing/2014/main" id="{227F85FC-FADA-4D24-AF8F-9FE97EE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4" name="judge-cell-0-0">
            <a:extLst xmlns:a="http://schemas.openxmlformats.org/drawingml/2006/main">
              <a:ext uri="{FF2B5EF4-FFF2-40B4-BE49-F238E27FC236}">
                <a16:creationId xmlns:a16="http://schemas.microsoft.com/office/drawing/2014/main" id="{0AEC0940-1960-4E86-8AC3-0A9CDF0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2647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15" name="judge-cell-text-0-0">
            <a:extLst xmlns:a="http://schemas.openxmlformats.org/drawingml/2006/main">
              <a:ext uri="{FF2B5EF4-FFF2-40B4-BE49-F238E27FC236}">
                <a16:creationId xmlns:a16="http://schemas.microsoft.com/office/drawing/2014/main" id="{C247B870-955A-45BF-A639-3A6A360C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Gate 失败</a:t>
            </a:r>
          </a:p>
        </p:txBody>
      </p:sp>
      <p:sp>
        <p:nvSpPr>
          <p:cNvPr id="16" name="judge-cell-0-1">
            <a:extLst xmlns:a="http://schemas.openxmlformats.org/drawingml/2006/main">
              <a:ext uri="{FF2B5EF4-FFF2-40B4-BE49-F238E27FC236}">
                <a16:creationId xmlns:a16="http://schemas.microsoft.com/office/drawing/2014/main" id="{E7525B4D-3777-44B2-8419-F7FC488A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857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17" name="judge-cell-text-0-1">
            <a:extLst xmlns:a="http://schemas.openxmlformats.org/drawingml/2006/main">
              <a:ext uri="{FF2B5EF4-FFF2-40B4-BE49-F238E27FC236}">
                <a16:creationId xmlns:a16="http://schemas.microsoft.com/office/drawing/2014/main" id="{EEE76FAE-9440-4A07-BFB1-DA2C314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2892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0B0F14"/>
                </a:solidFill>
                <a:latin typeface="Courier New"/>
                <a:ea typeface="Courier New"/>
                <a:cs typeface="Courier New"/>
              </a:rPr>
              <a:t>gate</a:t>
            </a:r>
          </a:p>
        </p:txBody>
      </p:sp>
      <p:sp>
        <p:nvSpPr>
          <p:cNvPr id="18" name="judge-cell-0-2">
            <a:extLst xmlns:a="http://schemas.openxmlformats.org/drawingml/2006/main">
              <a:ext uri="{FF2B5EF4-FFF2-40B4-BE49-F238E27FC236}">
                <a16:creationId xmlns:a16="http://schemas.microsoft.com/office/drawing/2014/main" id="{D876F279-D70D-4C89-B26B-EE52DE6D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52700"/>
            <a:ext cx="166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19" name="judge-cell-text-0-2">
            <a:extLst xmlns:a="http://schemas.openxmlformats.org/drawingml/2006/main">
              <a:ext uri="{FF2B5EF4-FFF2-40B4-BE49-F238E27FC236}">
                <a16:creationId xmlns:a16="http://schemas.microsoft.com/office/drawing/2014/main" id="{DD46668A-4585-4D77-ABFB-38BF1D32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28925"/>
            <a:ext cx="1438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0 次</a:t>
            </a:r>
          </a:p>
        </p:txBody>
      </p:sp>
      <p:sp>
        <p:nvSpPr>
          <p:cNvPr id="20" name="judge-cell-0-3">
            <a:extLst xmlns:a="http://schemas.openxmlformats.org/drawingml/2006/main">
              <a:ext uri="{FF2B5EF4-FFF2-40B4-BE49-F238E27FC236}">
                <a16:creationId xmlns:a16="http://schemas.microsoft.com/office/drawing/2014/main" id="{9781D0E9-ACE2-4C88-B0F9-67E61A78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21" name="judge-cell-text-0-3">
            <a:extLst xmlns:a="http://schemas.openxmlformats.org/drawingml/2006/main">
              <a:ext uri="{FF2B5EF4-FFF2-40B4-BE49-F238E27FC236}">
                <a16:creationId xmlns:a16="http://schemas.microsoft.com/office/drawing/2014/main" id="{B6E4E349-4B60-4B6C-8327-2FDD8CC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2892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blockers + fingerprint</a:t>
            </a:r>
          </a:p>
        </p:txBody>
      </p:sp>
      <p:sp>
        <p:nvSpPr>
          <p:cNvPr id="22" name="judge-cell-0-4">
            <a:extLst xmlns:a="http://schemas.openxmlformats.org/drawingml/2006/main">
              <a:ext uri="{FF2B5EF4-FFF2-40B4-BE49-F238E27FC236}">
                <a16:creationId xmlns:a16="http://schemas.microsoft.com/office/drawing/2014/main" id="{FA19D8A5-868A-48FE-8937-F9F4D96E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409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23" name="judge-cell-text-0-4">
            <a:extLst xmlns:a="http://schemas.openxmlformats.org/drawingml/2006/main">
              <a:ext uri="{FF2B5EF4-FFF2-40B4-BE49-F238E27FC236}">
                <a16:creationId xmlns:a16="http://schemas.microsoft.com/office/drawing/2014/main" id="{E3B67938-B15F-45B1-8970-928B864F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28925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Gate repair</a:t>
            </a:r>
          </a:p>
        </p:txBody>
      </p:sp>
      <p:sp>
        <p:nvSpPr>
          <p:cNvPr id="24" name="judge-cell-1-0">
            <a:extLst xmlns:a="http://schemas.openxmlformats.org/drawingml/2006/main">
              <a:ext uri="{FF2B5EF4-FFF2-40B4-BE49-F238E27FC236}">
                <a16:creationId xmlns:a16="http://schemas.microsoft.com/office/drawing/2014/main" id="{DACCC381-C113-409D-AFE7-6B708BC1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647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25" name="judge-cell-text-1-0">
            <a:extLst xmlns:a="http://schemas.openxmlformats.org/drawingml/2006/main">
              <a:ext uri="{FF2B5EF4-FFF2-40B4-BE49-F238E27FC236}">
                <a16:creationId xmlns:a16="http://schemas.microsoft.com/office/drawing/2014/main" id="{25D950DF-80B6-4EBF-9E88-CE100DD3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475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数据库失败</a:t>
            </a:r>
          </a:p>
        </p:txBody>
      </p:sp>
      <p:sp>
        <p:nvSpPr>
          <p:cNvPr id="26" name="judge-cell-1-1">
            <a:extLst xmlns:a="http://schemas.openxmlformats.org/drawingml/2006/main">
              <a:ext uri="{FF2B5EF4-FFF2-40B4-BE49-F238E27FC236}">
                <a16:creationId xmlns:a16="http://schemas.microsoft.com/office/drawing/2014/main" id="{40C8F6A4-BD11-48D2-9F2D-4CD975C3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1857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27" name="judge-cell-text-1-1">
            <a:extLst xmlns:a="http://schemas.openxmlformats.org/drawingml/2006/main">
              <a:ext uri="{FF2B5EF4-FFF2-40B4-BE49-F238E27FC236}">
                <a16:creationId xmlns:a16="http://schemas.microsoft.com/office/drawing/2014/main" id="{8498689A-4ABF-4438-9F8B-0392E360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0047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0B0F14"/>
                </a:solidFill>
                <a:latin typeface="Courier New"/>
                <a:ea typeface="Courier New"/>
                <a:cs typeface="Courier New"/>
              </a:rPr>
              <a:t>database</a:t>
            </a:r>
          </a:p>
        </p:txBody>
      </p:sp>
      <p:sp>
        <p:nvSpPr>
          <p:cNvPr id="28" name="judge-cell-1-2">
            <a:extLst xmlns:a="http://schemas.openxmlformats.org/drawingml/2006/main">
              <a:ext uri="{FF2B5EF4-FFF2-40B4-BE49-F238E27FC236}">
                <a16:creationId xmlns:a16="http://schemas.microsoft.com/office/drawing/2014/main" id="{062BBDB4-3089-498F-9955-D24DBF28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24250"/>
            <a:ext cx="166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29" name="judge-cell-text-1-2">
            <a:extLst xmlns:a="http://schemas.openxmlformats.org/drawingml/2006/main">
              <a:ext uri="{FF2B5EF4-FFF2-40B4-BE49-F238E27FC236}">
                <a16:creationId xmlns:a16="http://schemas.microsoft.com/office/drawing/2014/main" id="{DFACA5EC-87D8-49EB-9991-6C8B75B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800475"/>
            <a:ext cx="1438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0 次</a:t>
            </a:r>
          </a:p>
        </p:txBody>
      </p:sp>
      <p:sp>
        <p:nvSpPr>
          <p:cNvPr id="30" name="judge-cell-1-3">
            <a:extLst xmlns:a="http://schemas.openxmlformats.org/drawingml/2006/main">
              <a:ext uri="{FF2B5EF4-FFF2-40B4-BE49-F238E27FC236}">
                <a16:creationId xmlns:a16="http://schemas.microsoft.com/office/drawing/2014/main" id="{E1761290-6FC5-4B52-AAF7-1A3A8D0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31" name="judge-cell-text-1-3">
            <a:extLst xmlns:a="http://schemas.openxmlformats.org/drawingml/2006/main">
              <a:ext uri="{FF2B5EF4-FFF2-40B4-BE49-F238E27FC236}">
                <a16:creationId xmlns:a16="http://schemas.microsoft.com/office/drawing/2014/main" id="{D34AB478-E9AF-4B97-A8BB-7CBF2CD9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004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DB error + signature</a:t>
            </a:r>
          </a:p>
        </p:txBody>
      </p:sp>
      <p:sp>
        <p:nvSpPr>
          <p:cNvPr id="32" name="judge-cell-1-4">
            <a:extLst xmlns:a="http://schemas.openxmlformats.org/drawingml/2006/main">
              <a:ext uri="{FF2B5EF4-FFF2-40B4-BE49-F238E27FC236}">
                <a16:creationId xmlns:a16="http://schemas.microsoft.com/office/drawing/2014/main" id="{8ABD9299-F86C-4712-9C14-04C65E3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409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33" name="judge-cell-text-1-4">
            <a:extLst xmlns:a="http://schemas.openxmlformats.org/drawingml/2006/main">
              <a:ext uri="{FF2B5EF4-FFF2-40B4-BE49-F238E27FC236}">
                <a16:creationId xmlns:a16="http://schemas.microsoft.com/office/drawing/2014/main" id="{B76270C6-973E-47B8-9D44-24AAA43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Execution repair</a:t>
            </a:r>
          </a:p>
        </p:txBody>
      </p:sp>
      <p:sp>
        <p:nvSpPr>
          <p:cNvPr id="34" name="judge-cell-2-0">
            <a:extLst xmlns:a="http://schemas.openxmlformats.org/drawingml/2006/main">
              <a:ext uri="{FF2B5EF4-FFF2-40B4-BE49-F238E27FC236}">
                <a16:creationId xmlns:a16="http://schemas.microsoft.com/office/drawing/2014/main" id="{C8CE1F06-5EFC-4CD1-B473-DC05A9E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647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35" name="judge-cell-text-2-0">
            <a:extLst xmlns:a="http://schemas.openxmlformats.org/drawingml/2006/main">
              <a:ext uri="{FF2B5EF4-FFF2-40B4-BE49-F238E27FC236}">
                <a16:creationId xmlns:a16="http://schemas.microsoft.com/office/drawing/2014/main" id="{4F8B1378-B487-4786-8B1B-2AC3FA78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执行成功</a:t>
            </a:r>
          </a:p>
        </p:txBody>
      </p:sp>
      <p:sp>
        <p:nvSpPr>
          <p:cNvPr id="36" name="judge-cell-2-1">
            <a:extLst xmlns:a="http://schemas.openxmlformats.org/drawingml/2006/main">
              <a:ext uri="{FF2B5EF4-FFF2-40B4-BE49-F238E27FC236}">
                <a16:creationId xmlns:a16="http://schemas.microsoft.com/office/drawing/2014/main" id="{A3E7D661-3BDE-45A2-BD86-18748F28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95800"/>
            <a:ext cx="1857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37" name="judge-cell-text-2-1">
            <a:extLst xmlns:a="http://schemas.openxmlformats.org/drawingml/2006/main">
              <a:ext uri="{FF2B5EF4-FFF2-40B4-BE49-F238E27FC236}">
                <a16:creationId xmlns:a16="http://schemas.microsoft.com/office/drawing/2014/main" id="{426D985E-20D0-48C7-A27F-6748D3CC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7202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0B0F14"/>
                </a:solidFill>
                <a:latin typeface="Courier New"/>
                <a:ea typeface="Courier New"/>
                <a:cs typeface="Courier New"/>
              </a:rPr>
              <a:t>semantic</a:t>
            </a:r>
          </a:p>
        </p:txBody>
      </p:sp>
      <p:sp>
        <p:nvSpPr>
          <p:cNvPr id="38" name="judge-cell-2-2">
            <a:extLst xmlns:a="http://schemas.openxmlformats.org/drawingml/2006/main">
              <a:ext uri="{FF2B5EF4-FFF2-40B4-BE49-F238E27FC236}">
                <a16:creationId xmlns:a16="http://schemas.microsoft.com/office/drawing/2014/main" id="{93A08718-5B08-45BC-AFF0-3B1DBCF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95800"/>
            <a:ext cx="166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39" name="judge-cell-text-2-2">
            <a:extLst xmlns:a="http://schemas.openxmlformats.org/drawingml/2006/main">
              <a:ext uri="{FF2B5EF4-FFF2-40B4-BE49-F238E27FC236}">
                <a16:creationId xmlns:a16="http://schemas.microsoft.com/office/drawing/2014/main" id="{A35EB3F1-1EA3-4E79-84A8-C1E3597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72025"/>
            <a:ext cx="1438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按需</a:t>
            </a:r>
          </a:p>
        </p:txBody>
      </p:sp>
      <p:sp>
        <p:nvSpPr>
          <p:cNvPr id="40" name="judge-cell-2-3">
            <a:extLst xmlns:a="http://schemas.openxmlformats.org/drawingml/2006/main">
              <a:ext uri="{FF2B5EF4-FFF2-40B4-BE49-F238E27FC236}">
                <a16:creationId xmlns:a16="http://schemas.microsoft.com/office/drawing/2014/main" id="{53FA9BF7-3974-4D42-948C-27E40E6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41" name="judge-cell-text-2-3">
            <a:extLst xmlns:a="http://schemas.openxmlformats.org/drawingml/2006/main">
              <a:ext uri="{FF2B5EF4-FFF2-40B4-BE49-F238E27FC236}">
                <a16:creationId xmlns:a16="http://schemas.microsoft.com/office/drawing/2014/main" id="{2A257050-9754-44AD-8AF0-C397F1E7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7202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intent comparison</a:t>
            </a:r>
          </a:p>
        </p:txBody>
      </p:sp>
      <p:sp>
        <p:nvSpPr>
          <p:cNvPr id="42" name="judge-cell-2-4">
            <a:extLst xmlns:a="http://schemas.openxmlformats.org/drawingml/2006/main">
              <a:ext uri="{FF2B5EF4-FFF2-40B4-BE49-F238E27FC236}">
                <a16:creationId xmlns:a16="http://schemas.microsoft.com/office/drawing/2014/main" id="{24051362-4CB2-4717-848C-FC18541C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3409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C2CC"/>
            </a:solidFill>
            <a:prstDash val="solid"/>
          </a:ln>
        </p:spPr>
      </p:sp>
      <p:sp>
        <p:nvSpPr>
          <p:cNvPr id="43" name="judge-cell-text-2-4">
            <a:extLst xmlns:a="http://schemas.openxmlformats.org/drawingml/2006/main">
              <a:ext uri="{FF2B5EF4-FFF2-40B4-BE49-F238E27FC236}">
                <a16:creationId xmlns:a16="http://schemas.microsoft.com/office/drawing/2014/main" id="{3823692D-FEFA-4D28-AD29-022CED6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72025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PASS / Semantic repair</a:t>
            </a:r>
          </a:p>
        </p:txBody>
      </p:sp>
      <p:sp>
        <p:nvSpPr>
          <p:cNvPr id="44" name="judge-takeaway">
            <a:extLst xmlns:a="http://schemas.openxmlformats.org/drawingml/2006/main">
              <a:ext uri="{FF2B5EF4-FFF2-40B4-BE49-F238E27FC236}">
                <a16:creationId xmlns:a16="http://schemas.microsoft.com/office/drawing/2014/main" id="{C5D3987F-D491-4682-B402-154CCAD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确定性问题不消耗 Judge LLM；语义成本只花在已经可执行的 SQL 上。</a:t>
            </a:r>
          </a:p>
        </p:txBody>
      </p:sp>
      <p:sp>
        <p:nvSpPr>
          <p:cNvPr id="4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84EC5654-D92F-4E8A-A43E-66DAC696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4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5FECB1F-DE3D-42A6-A6CB-1AB4603F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9978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8">
            <a:extLst xmlns:a="http://schemas.openxmlformats.org/drawingml/2006/main">
              <a:ext uri="{FF2B5EF4-FFF2-40B4-BE49-F238E27FC236}">
                <a16:creationId xmlns:a16="http://schemas.microsoft.com/office/drawing/2014/main" id="{92384512-4C70-4DFF-8E21-04139972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BOUNDED REPAIR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100923C-032D-4A1D-9BAA-3FDAA02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Refiner 的修复循环有明确上限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A9DB8FAC-4DA0-4AA7-8FE9-F4BD415D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314052"/>
            </a:solidFill>
            <a:prstDash val="solid"/>
          </a:ln>
        </p:spPr>
      </p:sp>
      <p:sp>
        <p:nvSpPr>
          <p:cNvPr id="4" name="budget-subtitle">
            <a:extLst xmlns:a="http://schemas.openxmlformats.org/drawingml/2006/main">
              <a:ext uri="{FF2B5EF4-FFF2-40B4-BE49-F238E27FC236}">
                <a16:creationId xmlns:a16="http://schemas.microsoft.com/office/drawing/2014/main" id="{A0F4E3CE-4A28-4C72-86CD-A6432C6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三类失败分别计数，同时受总 SQL 尝试次数约束。</a:t>
            </a:r>
          </a:p>
        </p:txBody>
      </p:sp>
      <p:sp>
        <p:nvSpPr>
          <p:cNvPr id="5" name="budget-card-0">
            <a:extLst xmlns:a="http://schemas.openxmlformats.org/drawingml/2006/main">
              <a:ext uri="{FF2B5EF4-FFF2-40B4-BE49-F238E27FC236}">
                <a16:creationId xmlns:a16="http://schemas.microsoft.com/office/drawing/2014/main" id="{D622EF8E-05D4-4974-9027-DAA2C8D0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486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6" name="budget-stat-0">
            <a:extLst xmlns:a="http://schemas.openxmlformats.org/drawingml/2006/main">
              <a:ext uri="{FF2B5EF4-FFF2-40B4-BE49-F238E27FC236}">
                <a16:creationId xmlns:a16="http://schemas.microsoft.com/office/drawing/2014/main" id="{2F9C6B59-B7D9-4375-8522-B5B94B83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budget-title-0">
            <a:extLst xmlns:a="http://schemas.openxmlformats.org/drawingml/2006/main">
              <a:ext uri="{FF2B5EF4-FFF2-40B4-BE49-F238E27FC236}">
                <a16:creationId xmlns:a16="http://schemas.microsoft.com/office/drawing/2014/main" id="{1BC6B98D-E596-4378-8895-AEA6253A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Gate repairs</a:t>
            </a:r>
          </a:p>
        </p:txBody>
      </p:sp>
      <p:sp>
        <p:nvSpPr>
          <p:cNvPr id="8" name="budget-detail-0">
            <a:extLst xmlns:a="http://schemas.openxmlformats.org/drawingml/2006/main">
              <a:ext uri="{FF2B5EF4-FFF2-40B4-BE49-F238E27FC236}">
                <a16:creationId xmlns:a16="http://schemas.microsoft.com/office/drawing/2014/main" id="{C6814D7B-9FEC-43CA-8E2A-AED1345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语法、安全与授权</a:t>
            </a:r>
          </a:p>
        </p:txBody>
      </p:sp>
      <p:sp>
        <p:nvSpPr>
          <p:cNvPr id="9" name="budget-card-1">
            <a:extLst xmlns:a="http://schemas.openxmlformats.org/drawingml/2006/main">
              <a:ext uri="{FF2B5EF4-FFF2-40B4-BE49-F238E27FC236}">
                <a16:creationId xmlns:a16="http://schemas.microsoft.com/office/drawing/2014/main" id="{813E0402-CE5E-4B57-8107-45023BE6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486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1D27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0" name="budget-stat-1">
            <a:extLst xmlns:a="http://schemas.openxmlformats.org/drawingml/2006/main">
              <a:ext uri="{FF2B5EF4-FFF2-40B4-BE49-F238E27FC236}">
                <a16:creationId xmlns:a16="http://schemas.microsoft.com/office/drawing/2014/main" id="{8061B6BD-E82E-49A3-9717-F275D1A7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budget-title-1">
            <a:extLst xmlns:a="http://schemas.openxmlformats.org/drawingml/2006/main">
              <a:ext uri="{FF2B5EF4-FFF2-40B4-BE49-F238E27FC236}">
                <a16:creationId xmlns:a16="http://schemas.microsoft.com/office/drawing/2014/main" id="{74F4F448-10B8-493A-B3C4-EAC3BC7C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Database repairs</a:t>
            </a:r>
          </a:p>
        </p:txBody>
      </p:sp>
      <p:sp>
        <p:nvSpPr>
          <p:cNvPr id="12" name="budget-detail-1">
            <a:extLst xmlns:a="http://schemas.openxmlformats.org/drawingml/2006/main">
              <a:ext uri="{FF2B5EF4-FFF2-40B4-BE49-F238E27FC236}">
                <a16:creationId xmlns:a16="http://schemas.microsoft.com/office/drawing/2014/main" id="{030671F1-5602-4D6B-BD40-9658041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执行期数据库错误</a:t>
            </a:r>
          </a:p>
        </p:txBody>
      </p:sp>
      <p:sp>
        <p:nvSpPr>
          <p:cNvPr id="13" name="budget-card-2">
            <a:extLst xmlns:a="http://schemas.openxmlformats.org/drawingml/2006/main">
              <a:ext uri="{FF2B5EF4-FFF2-40B4-BE49-F238E27FC236}">
                <a16:creationId xmlns:a16="http://schemas.microsoft.com/office/drawing/2014/main" id="{E79BE8E1-E8F6-4E53-9FD0-9FF8FEDA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486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C42"/>
          </a:solidFill>
          <a:ln xmlns:a="http://schemas.openxmlformats.org/drawingml/2006/main" w="19050">
            <a:solidFill>
              <a:srgbClr val="45D0FF"/>
            </a:solidFill>
            <a:prstDash val="solid"/>
          </a:ln>
        </p:spPr>
      </p:sp>
      <p:sp>
        <p:nvSpPr>
          <p:cNvPr id="14" name="budget-stat-2">
            <a:extLst xmlns:a="http://schemas.openxmlformats.org/drawingml/2006/main">
              <a:ext uri="{FF2B5EF4-FFF2-40B4-BE49-F238E27FC236}">
                <a16:creationId xmlns:a16="http://schemas.microsoft.com/office/drawing/2014/main" id="{3A87807A-2D57-468F-A50A-821AC2F3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budget-title-2">
            <a:extLst xmlns:a="http://schemas.openxmlformats.org/drawingml/2006/main">
              <a:ext uri="{FF2B5EF4-FFF2-40B4-BE49-F238E27FC236}">
                <a16:creationId xmlns:a16="http://schemas.microsoft.com/office/drawing/2014/main" id="{FF5A1F95-C3B0-449A-A96D-D87037F4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Semantic repairs</a:t>
            </a:r>
          </a:p>
        </p:txBody>
      </p:sp>
      <p:sp>
        <p:nvSpPr>
          <p:cNvPr id="16" name="budget-detail-2">
            <a:extLst xmlns:a="http://schemas.openxmlformats.org/drawingml/2006/main">
              <a:ext uri="{FF2B5EF4-FFF2-40B4-BE49-F238E27FC236}">
                <a16:creationId xmlns:a16="http://schemas.microsoft.com/office/drawing/2014/main" id="{2A604EC4-3A38-4BB9-8212-29D49E0F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口径、粒度与意图</a:t>
            </a:r>
          </a:p>
        </p:txBody>
      </p:sp>
      <p:sp>
        <p:nvSpPr>
          <p:cNvPr id="17" name="budget-total">
            <a:extLst xmlns:a="http://schemas.openxmlformats.org/drawingml/2006/main">
              <a:ext uri="{FF2B5EF4-FFF2-40B4-BE49-F238E27FC236}">
                <a16:creationId xmlns:a16="http://schemas.microsoft.com/office/drawing/2014/main" id="{116A160D-1BA0-4AE5-8E6D-F63ACFAE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C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F7F9FC"/>
                </a:solidFill>
                <a:latin typeface="Courier New"/>
                <a:ea typeface="Courier New"/>
                <a:cs typeface="Courier New"/>
              </a:rPr>
              <a:t>MAX_TOTAL_SQL_ATTEMPTS = 10</a:t>
            </a:r>
          </a:p>
        </p:txBody>
      </p:sp>
      <p:sp>
        <p:nvSpPr>
          <p:cNvPr id="18" name="budget-reschema">
            <a:extLst xmlns:a="http://schemas.openxmlformats.org/drawingml/2006/main">
              <a:ext uri="{FF2B5EF4-FFF2-40B4-BE49-F238E27FC236}">
                <a16:creationId xmlns:a16="http://schemas.microsoft.com/office/drawing/2014/main" id="{6A10C8F7-F7DC-44FC-8A7B-7FA710B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受限补 Schema：最多 1 次 / 最多新增 2 张表</a:t>
            </a:r>
          </a:p>
        </p:txBody>
      </p:sp>
      <p:sp>
        <p:nvSpPr>
          <p:cNvPr id="19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1D502382-548A-4032-B06E-AAF89DDD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AAA04F7-E3E3-4E07-942E-8A76C2D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5622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9">
            <a:extLst xmlns:a="http://schemas.openxmlformats.org/drawingml/2006/main">
              <a:ext uri="{FF2B5EF4-FFF2-40B4-BE49-F238E27FC236}">
                <a16:creationId xmlns:a16="http://schemas.microsoft.com/office/drawing/2014/main" id="{40848E9E-9D27-4FE3-8FE0-0417457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LOOP TERMINATION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693E6F8-C255-433B-8E8C-0727FF0A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停止条件比“多试几次”更重要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11086F85-34F5-485D-B39B-9701C380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314052"/>
            </a:solidFill>
            <a:prstDash val="solid"/>
          </a:ln>
        </p:spPr>
      </p:sp>
      <p:sp>
        <p:nvSpPr>
          <p:cNvPr id="4" name="stop-line">
            <a:extLst xmlns:a="http://schemas.openxmlformats.org/drawingml/2006/main">
              <a:ext uri="{FF2B5EF4-FFF2-40B4-BE49-F238E27FC236}">
                <a16:creationId xmlns:a16="http://schemas.microsoft.com/office/drawing/2014/main" id="{B40E7455-0342-4AC5-9548-AD5A1247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314052"/>
            </a:solidFill>
            <a:prstDash val="solid"/>
          </a:ln>
        </p:spPr>
      </p:sp>
      <p:sp>
        <p:nvSpPr>
          <p:cNvPr id="5" name="stop-dot-0">
            <a:extLst xmlns:a="http://schemas.openxmlformats.org/drawingml/2006/main">
              <a:ext uri="{FF2B5EF4-FFF2-40B4-BE49-F238E27FC236}">
                <a16:creationId xmlns:a16="http://schemas.microsoft.com/office/drawing/2014/main" id="{76441CB0-D205-4C8C-BD91-41E3B7E4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28575">
            <a:solidFill>
              <a:srgbClr val="0B0F14"/>
            </a:solidFill>
            <a:prstDash val="solid"/>
          </a:ln>
        </p:spPr>
      </p:sp>
      <p:sp>
        <p:nvSpPr>
          <p:cNvPr id="6" name="stop-num-0">
            <a:extLst xmlns:a="http://schemas.openxmlformats.org/drawingml/2006/main">
              <a:ext uri="{FF2B5EF4-FFF2-40B4-BE49-F238E27FC236}">
                <a16:creationId xmlns:a16="http://schemas.microsoft.com/office/drawing/2014/main" id="{574B74AD-28CC-4700-8D18-BF0F932F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top-title-0">
            <a:extLst xmlns:a="http://schemas.openxmlformats.org/drawingml/2006/main">
              <a:ext uri="{FF2B5EF4-FFF2-40B4-BE49-F238E27FC236}">
                <a16:creationId xmlns:a16="http://schemas.microsoft.com/office/drawing/2014/main" id="{F4DD1B75-E029-48D0-9648-0E7B67DB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重复 SQL</a:t>
            </a:r>
          </a:p>
        </p:txBody>
      </p:sp>
      <p:sp>
        <p:nvSpPr>
          <p:cNvPr id="8" name="stop-body-0">
            <a:extLst xmlns:a="http://schemas.openxmlformats.org/drawingml/2006/main">
              <a:ext uri="{FF2B5EF4-FFF2-40B4-BE49-F238E27FC236}">
                <a16:creationId xmlns:a16="http://schemas.microsoft.com/office/drawing/2014/main" id="{1CDC73FD-5CCD-4712-9591-C5D8E9A7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同一 SQL 再次出现，立即停止。</a:t>
            </a:r>
          </a:p>
        </p:txBody>
      </p:sp>
      <p:sp>
        <p:nvSpPr>
          <p:cNvPr id="9" name="stop-dot-1">
            <a:extLst xmlns:a="http://schemas.openxmlformats.org/drawingml/2006/main">
              <a:ext uri="{FF2B5EF4-FFF2-40B4-BE49-F238E27FC236}">
                <a16:creationId xmlns:a16="http://schemas.microsoft.com/office/drawing/2014/main" id="{882E4F40-89A7-474E-AB42-00B08D5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28575">
            <a:solidFill>
              <a:srgbClr val="0B0F14"/>
            </a:solidFill>
            <a:prstDash val="solid"/>
          </a:ln>
        </p:spPr>
      </p:sp>
      <p:sp>
        <p:nvSpPr>
          <p:cNvPr id="10" name="stop-num-1">
            <a:extLst xmlns:a="http://schemas.openxmlformats.org/drawingml/2006/main">
              <a:ext uri="{FF2B5EF4-FFF2-40B4-BE49-F238E27FC236}">
                <a16:creationId xmlns:a16="http://schemas.microsoft.com/office/drawing/2014/main" id="{8C02A0AD-B95E-4A86-BFDD-6C8594D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241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top-title-1">
            <a:extLst xmlns:a="http://schemas.openxmlformats.org/drawingml/2006/main">
              <a:ext uri="{FF2B5EF4-FFF2-40B4-BE49-F238E27FC236}">
                <a16:creationId xmlns:a16="http://schemas.microsoft.com/office/drawing/2014/main" id="{86C01734-8BFB-40C5-9B06-21D60147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重复 fingerprint</a:t>
            </a:r>
          </a:p>
        </p:txBody>
      </p:sp>
      <p:sp>
        <p:nvSpPr>
          <p:cNvPr id="12" name="stop-body-1">
            <a:extLst xmlns:a="http://schemas.openxmlformats.org/drawingml/2006/main">
              <a:ext uri="{FF2B5EF4-FFF2-40B4-BE49-F238E27FC236}">
                <a16:creationId xmlns:a16="http://schemas.microsoft.com/office/drawing/2014/main" id="{399D5C2F-5AB8-4536-AFCC-901EFC40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同类失败连续出现两次，终止无效循环。</a:t>
            </a:r>
          </a:p>
        </p:txBody>
      </p:sp>
      <p:sp>
        <p:nvSpPr>
          <p:cNvPr id="13" name="stop-dot-2">
            <a:extLst xmlns:a="http://schemas.openxmlformats.org/drawingml/2006/main">
              <a:ext uri="{FF2B5EF4-FFF2-40B4-BE49-F238E27FC236}">
                <a16:creationId xmlns:a16="http://schemas.microsoft.com/office/drawing/2014/main" id="{1E5A7760-1024-4066-B16C-112B9F29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28575">
            <a:solidFill>
              <a:srgbClr val="0B0F14"/>
            </a:solidFill>
            <a:prstDash val="solid"/>
          </a:ln>
        </p:spPr>
      </p:sp>
      <p:sp>
        <p:nvSpPr>
          <p:cNvPr id="14" name="stop-num-2">
            <a:extLst xmlns:a="http://schemas.openxmlformats.org/drawingml/2006/main">
              <a:ext uri="{FF2B5EF4-FFF2-40B4-BE49-F238E27FC236}">
                <a16:creationId xmlns:a16="http://schemas.microsoft.com/office/drawing/2014/main" id="{AD301E7B-6ACD-451C-BC1E-E5F79D36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241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stop-title-2">
            <a:extLst xmlns:a="http://schemas.openxmlformats.org/drawingml/2006/main">
              <a:ext uri="{FF2B5EF4-FFF2-40B4-BE49-F238E27FC236}">
                <a16:creationId xmlns:a16="http://schemas.microsoft.com/office/drawing/2014/main" id="{57A40AF8-A3B5-468A-ABF6-2FD19E18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预算耗尽</a:t>
            </a:r>
          </a:p>
        </p:txBody>
      </p:sp>
      <p:sp>
        <p:nvSpPr>
          <p:cNvPr id="16" name="stop-body-2">
            <a:extLst xmlns:a="http://schemas.openxmlformats.org/drawingml/2006/main">
              <a:ext uri="{FF2B5EF4-FFF2-40B4-BE49-F238E27FC236}">
                <a16:creationId xmlns:a16="http://schemas.microsoft.com/office/drawing/2014/main" id="{5BEFC56D-8D1D-4BA2-9EEE-A229431D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单类预算或总 10 次尝试触发退出。</a:t>
            </a:r>
          </a:p>
        </p:txBody>
      </p:sp>
      <p:sp>
        <p:nvSpPr>
          <p:cNvPr id="17" name="stop-takeaway">
            <a:extLst xmlns:a="http://schemas.openxmlformats.org/drawingml/2006/main">
              <a:ext uri="{FF2B5EF4-FFF2-40B4-BE49-F238E27FC236}">
                <a16:creationId xmlns:a16="http://schemas.microsoft.com/office/drawing/2014/main" id="{D512FC34-99CE-4ACD-BBD6-F12D0C66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系统宁可诚实停止，也不把重复尝试包装成“智能修复”。</a:t>
            </a:r>
          </a:p>
        </p:txBody>
      </p:sp>
      <p:sp>
        <p:nvSpPr>
          <p:cNvPr id="18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0ACA1AD0-00AE-43A0-94C8-9AEBD811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9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A5C1CA6-2230-48D6-B457-DE14FA2D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2218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0">
            <a:extLst xmlns:a="http://schemas.openxmlformats.org/drawingml/2006/main">
              <a:ext uri="{FF2B5EF4-FFF2-40B4-BE49-F238E27FC236}">
                <a16:creationId xmlns:a16="http://schemas.microsoft.com/office/drawing/2014/main" id="{AEA1040D-4DF3-4FA4-9E19-6C715147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TRUST STATES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F25E7165-941B-4A7C-95A8-E6241F68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没有执行器时，结果只能叫 generated_unverified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4A3F9E19-11F1-46EF-9A18-047DD72D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C"/>
          </a:solidFill>
          <a:ln xmlns:a="http://schemas.openxmlformats.org/drawingml/2006/main" w="0">
            <a:solidFill>
              <a:srgbClr val="B9C2CC"/>
            </a:solidFill>
            <a:prstDash val="solid"/>
          </a:ln>
        </p:spPr>
      </p:sp>
      <p:sp>
        <p:nvSpPr>
          <p:cNvPr id="4" name="state-unverified">
            <a:extLst xmlns:a="http://schemas.openxmlformats.org/drawingml/2006/main">
              <a:ext uri="{FF2B5EF4-FFF2-40B4-BE49-F238E27FC236}">
                <a16:creationId xmlns:a16="http://schemas.microsoft.com/office/drawing/2014/main" id="{E168E01D-B6C0-4D4C-968D-7F81AE4C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5905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</p:sp>
      <p:sp>
        <p:nvSpPr>
          <p:cNvPr id="5" name="state-unverified-rail">
            <a:extLst xmlns:a="http://schemas.openxmlformats.org/drawingml/2006/main">
              <a:ext uri="{FF2B5EF4-FFF2-40B4-BE49-F238E27FC236}">
                <a16:creationId xmlns:a16="http://schemas.microsoft.com/office/drawing/2014/main" id="{7369180A-8950-4783-9332-026DD1EA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590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340"/>
          </a:solidFill>
          <a:ln xmlns:a="http://schemas.openxmlformats.org/drawingml/2006/main" w="0">
            <a:solidFill>
              <a:srgbClr val="F5A340"/>
            </a:solidFill>
            <a:prstDash val="solid"/>
          </a:ln>
        </p:spPr>
      </p:sp>
      <p:sp>
        <p:nvSpPr>
          <p:cNvPr id="6" name="state-unverified-label">
            <a:extLst xmlns:a="http://schemas.openxmlformats.org/drawingml/2006/main">
              <a:ext uri="{FF2B5EF4-FFF2-40B4-BE49-F238E27FC236}">
                <a16:creationId xmlns:a16="http://schemas.microsoft.com/office/drawing/2014/main" id="{00589139-ABB5-4B5C-BF9A-4FE712DB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3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A340"/>
                </a:solidFill>
                <a:latin typeface="Microsoft YaHei"/>
                <a:ea typeface="Microsoft YaHei"/>
                <a:cs typeface="Microsoft YaHei"/>
              </a:rPr>
              <a:t>NO EXECUTOR</a:t>
            </a:r>
          </a:p>
        </p:txBody>
      </p:sp>
      <p:sp>
        <p:nvSpPr>
          <p:cNvPr id="7" name="state-unverified-title">
            <a:extLst xmlns:a="http://schemas.openxmlformats.org/drawingml/2006/main">
              <a:ext uri="{FF2B5EF4-FFF2-40B4-BE49-F238E27FC236}">
                <a16:creationId xmlns:a16="http://schemas.microsoft.com/office/drawing/2014/main" id="{151517E8-39E8-4AB5-9A82-1AC1A758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0B0F14"/>
                </a:solidFill>
                <a:latin typeface="Courier New"/>
                <a:ea typeface="Courier New"/>
                <a:cs typeface="Courier New"/>
              </a:rPr>
              <a:t>generated_</a:t>
            </a:r>
          </a:p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0B0F14"/>
                </a:solidFill>
                <a:latin typeface="Courier New"/>
                <a:ea typeface="Courier New"/>
                <a:cs typeface="Courier New"/>
              </a:rPr>
              <a:t>unverified</a:t>
            </a:r>
          </a:p>
        </p:txBody>
      </p:sp>
      <p:sp>
        <p:nvSpPr>
          <p:cNvPr id="8" name="state-unverified-list">
            <a:extLst xmlns:a="http://schemas.openxmlformats.org/drawingml/2006/main">
              <a:ext uri="{FF2B5EF4-FFF2-40B4-BE49-F238E27FC236}">
                <a16:creationId xmlns:a16="http://schemas.microsoft.com/office/drawing/2014/main" id="{60BA3A07-0959-42BB-9916-BAE11D4F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success = false</a:t>
            </a:r>
          </a:p>
          <a:p xmlns:a="http://schemas.openxmlformats.org/drawingml/2006/main">
            <a:pPr algn="l">
              <a:defRPr sz="1425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SQL 可供人工查看</a:t>
            </a:r>
          </a:p>
          <a:p xmlns:a="http://schemas.openxmlformats.org/drawingml/2006/main">
            <a:pPr algn="l">
              <a:defRPr sz="1425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• 不能声称已验证</a:t>
            </a:r>
          </a:p>
        </p:txBody>
      </p:sp>
      <p:sp>
        <p:nvSpPr>
          <p:cNvPr id="9" name="state-verified">
            <a:extLst xmlns:a="http://schemas.openxmlformats.org/drawingml/2006/main">
              <a:ext uri="{FF2B5EF4-FFF2-40B4-BE49-F238E27FC236}">
                <a16:creationId xmlns:a16="http://schemas.microsoft.com/office/drawing/2014/main" id="{DB599C2C-333F-4D9C-8421-74BD17F4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905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EE"/>
          </a:solidFill>
          <a:ln xmlns:a="http://schemas.openxmlformats.org/drawingml/2006/main" w="0">
            <a:solidFill>
              <a:srgbClr val="E5F6EE"/>
            </a:solidFill>
            <a:prstDash val="solid"/>
          </a:ln>
        </p:spPr>
      </p:sp>
      <p:sp>
        <p:nvSpPr>
          <p:cNvPr id="10" name="state-verified-rail">
            <a:extLst xmlns:a="http://schemas.openxmlformats.org/drawingml/2006/main">
              <a:ext uri="{FF2B5EF4-FFF2-40B4-BE49-F238E27FC236}">
                <a16:creationId xmlns:a16="http://schemas.microsoft.com/office/drawing/2014/main" id="{326CA414-B1EB-4606-BAA0-2D986C2B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90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  <a:prstDash val="solid"/>
          </a:ln>
        </p:spPr>
      </p:sp>
      <p:sp>
        <p:nvSpPr>
          <p:cNvPr id="11" name="state-verified-label">
            <a:extLst xmlns:a="http://schemas.openxmlformats.org/drawingml/2006/main">
              <a:ext uri="{FF2B5EF4-FFF2-40B4-BE49-F238E27FC236}">
                <a16:creationId xmlns:a16="http://schemas.microsoft.com/office/drawing/2014/main" id="{2960689E-C2E8-48BF-B31F-9F2ACBE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SAFE EXECUTION + SEMANTIC PASS</a:t>
            </a:r>
          </a:p>
        </p:txBody>
      </p:sp>
      <p:sp>
        <p:nvSpPr>
          <p:cNvPr id="12" name="state-verified-title">
            <a:extLst xmlns:a="http://schemas.openxmlformats.org/drawingml/2006/main">
              <a:ext uri="{FF2B5EF4-FFF2-40B4-BE49-F238E27FC236}">
                <a16:creationId xmlns:a16="http://schemas.microsoft.com/office/drawing/2014/main" id="{A703E90D-4BF1-4047-970C-CD35381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success</a:t>
            </a:r>
          </a:p>
        </p:txBody>
      </p:sp>
      <p:sp>
        <p:nvSpPr>
          <p:cNvPr id="13" name="state-verified-list">
            <a:extLst xmlns:a="http://schemas.openxmlformats.org/drawingml/2006/main">
              <a:ext uri="{FF2B5EF4-FFF2-40B4-BE49-F238E27FC236}">
                <a16:creationId xmlns:a16="http://schemas.microsoft.com/office/drawing/2014/main" id="{166FFB46-F040-48B2-B14F-6AD2049D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386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Gate 通过</a:t>
            </a:r>
          </a:p>
          <a:p xmlns:a="http://schemas.openxmlformats.org/drawingml/2006/main">
            <a:pPr algn="l">
              <a:defRPr sz="1425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数据库执行成功</a:t>
            </a:r>
          </a:p>
          <a:p xmlns:a="http://schemas.openxmlformats.org/drawingml/2006/main">
            <a:pPr algn="l">
              <a:defRPr sz="1425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• Judge semantic PASS</a:t>
            </a:r>
          </a:p>
        </p:txBody>
      </p:sp>
      <p:sp>
        <p:nvSpPr>
          <p:cNvPr id="14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B8F2C9E2-2EE3-4B21-9BDC-FEB45FE9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EFE0EA0F-D098-4286-94B5-4756504C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72494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1">
            <a:extLst xmlns:a="http://schemas.openxmlformats.org/drawingml/2006/main">
              <a:ext uri="{FF2B5EF4-FFF2-40B4-BE49-F238E27FC236}">
                <a16:creationId xmlns:a16="http://schemas.microsoft.com/office/drawing/2014/main" id="{A2F59F04-C8E3-456B-8F54-75199954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7CF6"/>
                </a:solidFill>
                <a:latin typeface="Microsoft YaHei"/>
                <a:ea typeface="Microsoft YaHei"/>
                <a:cs typeface="Microsoft YaHei"/>
              </a:rPr>
              <a:t>CURRENT WSL VERIFICATION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5B3DABDC-E480-487F-BF7E-4265C5BB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当前回归集验证了关键边界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0E0381CF-E790-4C26-9DF2-BD932BA4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C"/>
          </a:solidFill>
          <a:ln xmlns:a="http://schemas.openxmlformats.org/drawingml/2006/main" w="0">
            <a:solidFill>
              <a:srgbClr val="B9C2CC"/>
            </a:solidFill>
            <a:prstDash val="solid"/>
          </a:ln>
        </p:spPr>
      </p:sp>
      <p:sp>
        <p:nvSpPr>
          <p:cNvPr id="4" name="tests-stat-panel">
            <a:extLst xmlns:a="http://schemas.openxmlformats.org/drawingml/2006/main">
              <a:ext uri="{FF2B5EF4-FFF2-40B4-BE49-F238E27FC236}">
                <a16:creationId xmlns:a16="http://schemas.microsoft.com/office/drawing/2014/main" id="{B773AFA7-2ED9-45F1-9F19-4B7F451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095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2"/>
          </a:solidFill>
          <a:ln xmlns:a="http://schemas.openxmlformats.org/drawingml/2006/main" w="19050">
            <a:solidFill>
              <a:srgbClr val="45D0FF"/>
            </a:solidFill>
            <a:prstDash val="solid"/>
          </a:ln>
        </p:spPr>
      </p:sp>
      <p:sp>
        <p:nvSpPr>
          <p:cNvPr id="5" name="tests-stat">
            <a:extLst xmlns:a="http://schemas.openxmlformats.org/drawingml/2006/main">
              <a:ext uri="{FF2B5EF4-FFF2-40B4-BE49-F238E27FC236}">
                <a16:creationId xmlns:a16="http://schemas.microsoft.com/office/drawing/2014/main" id="{E4A0B47E-DC96-48AC-BC97-BC67D076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25 / 25</a:t>
            </a:r>
          </a:p>
        </p:txBody>
      </p:sp>
      <p:sp>
        <p:nvSpPr>
          <p:cNvPr id="6" name="tests-passed">
            <a:extLst xmlns:a="http://schemas.openxmlformats.org/drawingml/2006/main">
              <a:ext uri="{FF2B5EF4-FFF2-40B4-BE49-F238E27FC236}">
                <a16:creationId xmlns:a16="http://schemas.microsoft.com/office/drawing/2014/main" id="{F70B0F2B-2397-45CC-88C9-ACDFB5FD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tests passed</a:t>
            </a:r>
          </a:p>
        </p:txBody>
      </p:sp>
      <p:sp>
        <p:nvSpPr>
          <p:cNvPr id="7" name="tests-time">
            <a:extLst xmlns:a="http://schemas.openxmlformats.org/drawingml/2006/main">
              <a:ext uri="{FF2B5EF4-FFF2-40B4-BE49-F238E27FC236}">
                <a16:creationId xmlns:a16="http://schemas.microsoft.com/office/drawing/2014/main" id="{0002452C-D4DD-495E-AEB6-144980C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4"/>
                </a:solidFill>
                <a:latin typeface="Microsoft YaHei"/>
                <a:ea typeface="Microsoft YaHei"/>
                <a:cs typeface="Microsoft YaHei"/>
              </a:rPr>
              <a:t>WSL isolated dependencies · 29.36s</a:t>
            </a:r>
          </a:p>
        </p:txBody>
      </p:sp>
      <p:sp>
        <p:nvSpPr>
          <p:cNvPr id="8" name="tests-terminal-panel">
            <a:extLst xmlns:a="http://schemas.openxmlformats.org/drawingml/2006/main">
              <a:ext uri="{FF2B5EF4-FFF2-40B4-BE49-F238E27FC236}">
                <a16:creationId xmlns:a16="http://schemas.microsoft.com/office/drawing/2014/main" id="{386D9A9D-5A19-4B82-AD56-532C2502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05000"/>
            <a:ext cx="6934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9" name="tests-command">
            <a:extLst xmlns:a="http://schemas.openxmlformats.org/drawingml/2006/main">
              <a:ext uri="{FF2B5EF4-FFF2-40B4-BE49-F238E27FC236}">
                <a16:creationId xmlns:a16="http://schemas.microsoft.com/office/drawing/2014/main" id="{6CBE9BD7-BFD4-4137-AEE4-D9917920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0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45D0FF"/>
                </a:solidFill>
                <a:latin typeface="Courier New"/>
                <a:ea typeface="Courier New"/>
                <a:cs typeface="Courier New"/>
              </a:rPr>
              <a:t>$ pytest tests -q</a:t>
            </a:r>
          </a:p>
        </p:txBody>
      </p:sp>
      <p:sp>
        <p:nvSpPr>
          <p:cNvPr id="10" name="tests-right-title">
            <a:extLst xmlns:a="http://schemas.openxmlformats.org/drawingml/2006/main">
              <a:ext uri="{FF2B5EF4-FFF2-40B4-BE49-F238E27FC236}">
                <a16:creationId xmlns:a16="http://schemas.microsoft.com/office/drawing/2014/main" id="{E72ADDEE-B310-444D-B817-925A1F6D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覆盖的合同</a:t>
            </a:r>
          </a:p>
        </p:txBody>
      </p:sp>
      <p:sp>
        <p:nvSpPr>
          <p:cNvPr id="11" name="tests-list">
            <a:extLst xmlns:a="http://schemas.openxmlformats.org/drawingml/2006/main">
              <a:ext uri="{FF2B5EF4-FFF2-40B4-BE49-F238E27FC236}">
                <a16:creationId xmlns:a16="http://schemas.microsoft.com/office/drawing/2014/main" id="{1D771AB0-85E0-4CEA-A5A2-17763143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rPr>
              <a:t>• PreExecutionGate</a:t>
            </a:r>
          </a:p>
          <a:p xmlns:a="http://schemas.openxmlformats.org/drawingml/2006/main">
            <a:pPr algn="l">
              <a:def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rPr>
              <a:t>• SafeExecutor 与 SQLite 只读层</a:t>
            </a:r>
          </a:p>
          <a:p xmlns:a="http://schemas.openxmlformats.org/drawingml/2006/main">
            <a:pPr algn="l">
              <a:def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rPr>
              <a:t>• Judge / Refiner 闭环</a:t>
            </a:r>
          </a:p>
          <a:p xmlns:a="http://schemas.openxmlformats.org/drawingml/2006/main">
            <a:pPr algn="l">
              <a:def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rPr>
              <a:t>• 重试路由与停止条件</a:t>
            </a:r>
          </a:p>
          <a:p xmlns:a="http://schemas.openxmlformats.org/drawingml/2006/main">
            <a:pPr algn="l">
              <a:def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DE5EC"/>
                </a:solidFill>
                <a:latin typeface="Microsoft YaHei"/>
                <a:ea typeface="Microsoft YaHei"/>
                <a:cs typeface="Microsoft YaHei"/>
              </a:rPr>
              <a:t>• SQLArtifact / DraftIntent</a:t>
            </a:r>
          </a:p>
        </p:txBody>
      </p:sp>
      <p:sp>
        <p:nvSpPr>
          <p:cNvPr id="12" name="tests-boundary">
            <a:extLst xmlns:a="http://schemas.openxmlformats.org/drawingml/2006/main">
              <a:ext uri="{FF2B5EF4-FFF2-40B4-BE49-F238E27FC236}">
                <a16:creationId xmlns:a16="http://schemas.microsoft.com/office/drawing/2014/main" id="{92C84893-22F0-41BD-9441-215759E3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A3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A340"/>
                </a:solidFill>
                <a:latin typeface="Microsoft YaHei"/>
                <a:ea typeface="Microsoft YaHei"/>
                <a:cs typeface="Microsoft YaHei"/>
              </a:rPr>
              <a:t>未验证：真实模型调用与 BIRD benchmark</a:t>
            </a:r>
          </a:p>
        </p:txBody>
      </p:sp>
      <p:sp>
        <p:nvSpPr>
          <p:cNvPr id="13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F52DB2AE-F9DC-47A5-98C4-6D54B478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26171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4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94184806-5F5E-48A6-B79E-9D7B1673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49293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027C5F9-9D6B-4F0B-B7F7-EC7F7A18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THE CORE IDEA</a:t>
            </a:r>
          </a:p>
        </p:txBody>
      </p:sp>
      <p:sp>
        <p:nvSpPr>
          <p:cNvPr id="2" name="close-index">
            <a:extLst xmlns:a="http://schemas.openxmlformats.org/drawingml/2006/main">
              <a:ext uri="{FF2B5EF4-FFF2-40B4-BE49-F238E27FC236}">
                <a16:creationId xmlns:a16="http://schemas.microsoft.com/office/drawing/2014/main" id="{EACB23FA-5FFE-4C4D-93B5-32E81AFA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01 / 06 / 10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170911B-61CE-4189-851F-0CBF975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可信 SQL 不是</a:t>
            </a:r>
          </a:p>
          <a:p xmlns:a="http://schemas.openxmlformats.org/drawingml/2006/main">
            <a:pPr algn="l">
              <a:defRPr sz="40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“生成出来”</a:t>
            </a:r>
          </a:p>
        </p:txBody>
      </p:sp>
      <p:sp>
        <p:nvSpPr>
          <p:cNvPr id="4" name="close-accent-title">
            <a:extLst xmlns:a="http://schemas.openxmlformats.org/drawingml/2006/main">
              <a:ext uri="{FF2B5EF4-FFF2-40B4-BE49-F238E27FC236}">
                <a16:creationId xmlns:a16="http://schemas.microsoft.com/office/drawing/2014/main" id="{F355E26B-1ED6-4479-AAC1-B674401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45D0FF"/>
                </a:solidFill>
                <a:latin typeface="Microsoft YaHei"/>
                <a:ea typeface="Microsoft YaHei"/>
                <a:cs typeface="Microsoft YaHei"/>
              </a:rPr>
              <a:t>而是“验证出来”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ED2FE113-8E10-4982-B7F7-C48434A6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314052"/>
            </a:solidFill>
            <a:prstDash val="solid"/>
          </a:ln>
        </p:spPr>
      </p:sp>
      <p:sp>
        <p:nvSpPr>
          <p:cNvPr id="6" name="close-line-1">
            <a:extLst xmlns:a="http://schemas.openxmlformats.org/drawingml/2006/main">
              <a:ext uri="{FF2B5EF4-FFF2-40B4-BE49-F238E27FC236}">
                <a16:creationId xmlns:a16="http://schemas.microsoft.com/office/drawing/2014/main" id="{6066A3E6-F0B8-40B2-9F39-C3A0AC37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确定性 Gate 阻断高置信风险</a:t>
            </a:r>
          </a:p>
        </p:txBody>
      </p:sp>
      <p:sp>
        <p:nvSpPr>
          <p:cNvPr id="7" name="close-line-2">
            <a:extLst xmlns:a="http://schemas.openxmlformats.org/drawingml/2006/main">
              <a:ext uri="{FF2B5EF4-FFF2-40B4-BE49-F238E27FC236}">
                <a16:creationId xmlns:a16="http://schemas.microsoft.com/office/drawing/2014/main" id="{3841F855-137B-4C0C-8CC6-9AE36066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62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SafeExecutor 统一执行反馈</a:t>
            </a:r>
          </a:p>
        </p:txBody>
      </p:sp>
      <p:sp>
        <p:nvSpPr>
          <p:cNvPr id="8" name="close-line-3">
            <a:extLst xmlns:a="http://schemas.openxmlformats.org/drawingml/2006/main">
              <a:ext uri="{FF2B5EF4-FFF2-40B4-BE49-F238E27FC236}">
                <a16:creationId xmlns:a16="http://schemas.microsoft.com/office/drawing/2014/main" id="{B4CF951B-50FB-45A0-92B0-D91B2518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Judge / Refiner 有界修复语义</a:t>
            </a:r>
          </a:p>
        </p:txBody>
      </p:sp>
      <p:sp>
        <p:nvSpPr>
          <p:cNvPr id="9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CA04EEFD-87CE-4896-A85B-0588E9CA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当前边界：回归测试已验证；真实模型效果仍待 benchmark。</a:t>
            </a:r>
          </a:p>
        </p:txBody>
      </p:sp>
      <p:sp>
        <p:nvSpPr>
          <p:cNvPr id="10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B64B52AA-DEFE-48C3-B2C3-E2C0C9C2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BUILD-PPT-SERIES / E2E DEMO</a:t>
            </a:r>
          </a:p>
        </p:txBody>
      </p:sp>
      <p:sp>
        <p:nvSpPr>
          <p:cNvPr id="11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3D7D4A2D-2154-4148-86E8-A17E3A54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95116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2026-08-08T09:37:41.8150000Z</dcterms:created>
  <dcterms:modified xsi:type="dcterms:W3CDTF">2026-08-08T09:37:41.8150000Z</dcterms:modified>
</coreProperties>
</file>